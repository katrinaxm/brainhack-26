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762" r:id="rId3"/>
  </p:sldMasterIdLst>
  <p:notesMasterIdLst>
    <p:notesMasterId r:id="rId29"/>
  </p:notesMasterIdLst>
  <p:handoutMasterIdLst>
    <p:handoutMasterId r:id="rId30"/>
  </p:handoutMasterIdLst>
  <p:sldIdLst>
    <p:sldId id="2147380259" r:id="rId4"/>
    <p:sldId id="2147380293" r:id="rId5"/>
    <p:sldId id="2147380268" r:id="rId6"/>
    <p:sldId id="2147380278" r:id="rId7"/>
    <p:sldId id="2147380277" r:id="rId8"/>
    <p:sldId id="2147380269" r:id="rId9"/>
    <p:sldId id="2147380270" r:id="rId10"/>
    <p:sldId id="2147380282" r:id="rId11"/>
    <p:sldId id="2147380289" r:id="rId12"/>
    <p:sldId id="2147380281" r:id="rId13"/>
    <p:sldId id="2147380287" r:id="rId14"/>
    <p:sldId id="2147380288" r:id="rId15"/>
    <p:sldId id="2147380294" r:id="rId16"/>
    <p:sldId id="2147380291" r:id="rId17"/>
    <p:sldId id="2147380286" r:id="rId18"/>
    <p:sldId id="2147380292" r:id="rId19"/>
    <p:sldId id="2147380290" r:id="rId20"/>
    <p:sldId id="2147380280" r:id="rId21"/>
    <p:sldId id="2147380283" r:id="rId22"/>
    <p:sldId id="2147380285" r:id="rId23"/>
    <p:sldId id="2147380295" r:id="rId24"/>
    <p:sldId id="2147380296" r:id="rId25"/>
    <p:sldId id="2147380284" r:id="rId26"/>
    <p:sldId id="2147380279" r:id="rId27"/>
    <p:sldId id="30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CD4D2F-EB76-5E91-2DBE-3C55E14A4F49}" name="Joey Lee" initials="JL" userId="S::joey.lee@pico.com::14a20fd9-6e6d-4ec5-897e-2d628d3edd18" providerId="AD"/>
  <p188:author id="{E45A2549-BFB3-6BF4-2D90-A9257D97D89D}" name="Lynn Chye" initials="LC" userId="S::lynn.chye@pico.com::1d451a1e-79d0-475c-b0b1-b6293fb7c638" providerId="AD"/>
  <p188:author id="{F160DF53-B9CD-E344-E2C4-18E6B39236C7}" name="Zoe Gan" initials="ZG" userId="S::zoe.gan@pico.com::bdf6aee4-ef36-4e08-a704-2baacf6816a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E4E5E8"/>
    <a:srgbClr val="000000"/>
    <a:srgbClr val="74FAFC"/>
    <a:srgbClr val="BAF8FF"/>
    <a:srgbClr val="B5E61D"/>
    <a:srgbClr val="FFFFFF"/>
    <a:srgbClr val="92D050"/>
    <a:srgbClr val="99FF33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8" autoAdjust="0"/>
    <p:restoredTop sz="96247" autoAdjust="0"/>
  </p:normalViewPr>
  <p:slideViewPr>
    <p:cSldViewPr snapToGrid="0">
      <p:cViewPr varScale="1">
        <p:scale>
          <a:sx n="73" d="100"/>
          <a:sy n="73" d="100"/>
        </p:scale>
        <p:origin x="516" y="5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85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F42DC6-D0D3-664B-42BA-3BCF84432D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5AC14-7913-3EAC-DC90-3638C91513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C41C4-B628-4E95-86C8-86C6074C4CE3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0A98C-5F5F-77FE-78A1-E053CEE6FA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F4B5E-BC5C-E354-1263-00FFA18B03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6ADB4-F13F-4A41-85E4-325084898E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047862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51D71-E5A3-49DE-99A0-8F8BDA23F2CE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0FB7B-4361-47B2-BF33-EBCD090F4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561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094123195f_2_6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8" name="Google Shape;918;g3094123195f_2_6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17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852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2264A44-EDE1-AC3D-FCDD-E171FA61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b23fb21b_0_0:notes">
            <a:extLst>
              <a:ext uri="{FF2B5EF4-FFF2-40B4-BE49-F238E27FC236}">
                <a16:creationId xmlns:a16="http://schemas.microsoft.com/office/drawing/2014/main" id="{DE82DAB3-508D-7F78-FED2-ECB6FDA65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b6b23fb21b_0_0:notes">
            <a:extLst>
              <a:ext uri="{FF2B5EF4-FFF2-40B4-BE49-F238E27FC236}">
                <a16:creationId xmlns:a16="http://schemas.microsoft.com/office/drawing/2014/main" id="{72C1564F-24FC-2E1D-C2EB-04F8A7884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911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3971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4363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2482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2264A44-EDE1-AC3D-FCDD-E171FA61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b23fb21b_0_0:notes">
            <a:extLst>
              <a:ext uri="{FF2B5EF4-FFF2-40B4-BE49-F238E27FC236}">
                <a16:creationId xmlns:a16="http://schemas.microsoft.com/office/drawing/2014/main" id="{DE82DAB3-508D-7F78-FED2-ECB6FDA65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b6b23fb21b_0_0:notes">
            <a:extLst>
              <a:ext uri="{FF2B5EF4-FFF2-40B4-BE49-F238E27FC236}">
                <a16:creationId xmlns:a16="http://schemas.microsoft.com/office/drawing/2014/main" id="{72C1564F-24FC-2E1D-C2EB-04F8A7884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3149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4290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8624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2264A44-EDE1-AC3D-FCDD-E171FA61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b23fb21b_0_0:notes">
            <a:extLst>
              <a:ext uri="{FF2B5EF4-FFF2-40B4-BE49-F238E27FC236}">
                <a16:creationId xmlns:a16="http://schemas.microsoft.com/office/drawing/2014/main" id="{DE82DAB3-508D-7F78-FED2-ECB6FDA65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b6b23fb21b_0_0:notes">
            <a:extLst>
              <a:ext uri="{FF2B5EF4-FFF2-40B4-BE49-F238E27FC236}">
                <a16:creationId xmlns:a16="http://schemas.microsoft.com/office/drawing/2014/main" id="{72C1564F-24FC-2E1D-C2EB-04F8A7884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3994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2432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0270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0142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2264A44-EDE1-AC3D-FCDD-E171FA61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b23fb21b_0_0:notes">
            <a:extLst>
              <a:ext uri="{FF2B5EF4-FFF2-40B4-BE49-F238E27FC236}">
                <a16:creationId xmlns:a16="http://schemas.microsoft.com/office/drawing/2014/main" id="{DE82DAB3-508D-7F78-FED2-ECB6FDA65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b6b23fb21b_0_0:notes">
            <a:extLst>
              <a:ext uri="{FF2B5EF4-FFF2-40B4-BE49-F238E27FC236}">
                <a16:creationId xmlns:a16="http://schemas.microsoft.com/office/drawing/2014/main" id="{72C1564F-24FC-2E1D-C2EB-04F8A7884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13366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1355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1074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51527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2264A44-EDE1-AC3D-FCDD-E171FA61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b23fb21b_0_0:notes">
            <a:extLst>
              <a:ext uri="{FF2B5EF4-FFF2-40B4-BE49-F238E27FC236}">
                <a16:creationId xmlns:a16="http://schemas.microsoft.com/office/drawing/2014/main" id="{DE82DAB3-508D-7F78-FED2-ECB6FDA65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b6b23fb21b_0_0:notes">
            <a:extLst>
              <a:ext uri="{FF2B5EF4-FFF2-40B4-BE49-F238E27FC236}">
                <a16:creationId xmlns:a16="http://schemas.microsoft.com/office/drawing/2014/main" id="{72C1564F-24FC-2E1D-C2EB-04F8A7884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6799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4164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84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0518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2264A44-EDE1-AC3D-FCDD-E171FA61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b23fb21b_0_0:notes">
            <a:extLst>
              <a:ext uri="{FF2B5EF4-FFF2-40B4-BE49-F238E27FC236}">
                <a16:creationId xmlns:a16="http://schemas.microsoft.com/office/drawing/2014/main" id="{DE82DAB3-508D-7F78-FED2-ECB6FDA65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b6b23fb21b_0_0:notes">
            <a:extLst>
              <a:ext uri="{FF2B5EF4-FFF2-40B4-BE49-F238E27FC236}">
                <a16:creationId xmlns:a16="http://schemas.microsoft.com/office/drawing/2014/main" id="{72C1564F-24FC-2E1D-C2EB-04F8A7884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57689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57369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094123195f_2_6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8" name="Google Shape;918;g3094123195f_2_6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096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87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842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61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786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6553-1113-A59F-96C9-F0875C8A3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EF236-A436-B4C2-218F-21452F639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2393B-0AD2-4283-F6B1-23F73DCE1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42EB0-3989-6EA4-DF18-B5574925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BD871-6DB7-36CA-B48C-BF2120B6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092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77A9-10F4-0B9B-93A1-D1706278D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1A5D2-FD99-21AD-5F58-C72A813DB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D99E0-0179-8F39-9459-A5E0C646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2F462-9857-6B54-2159-7D84D931E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8E270-AEFB-B2BE-805A-A3CE72C9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570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317A0-1C8C-053F-DBF7-1B330FB2C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02C6-F09C-17DF-DCA5-3AC9BD415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D9189-49AC-842D-0796-68FA8FAB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FD436-7F97-34C0-EE65-13DDFCC3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1ABED-EE89-4A8E-27F5-63CDABB82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573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7FB8-5F79-D89F-F502-130A31D7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7C302-3845-C4D5-D614-711B2C6E7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F08A9-F6DC-7476-673F-CD41005EE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2F778-3638-EE8D-96A6-8B143BE8B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7C0DB-6165-7A33-F836-DE4AB670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92D7F-88FF-6B18-1F9A-5C478402A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198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4E19-D113-4414-E861-D578D7F7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A2FDE-8462-1E8B-5AD8-3BFB860AC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1FBAD-57C0-17A3-993C-15B3547A4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D0295-DDB9-9554-0368-E33BB67E4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EE9B7-6521-D4F8-F3EC-0AEC7FAD6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C7E0D-CC7B-1364-067F-F29D7E3FB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79F330-9167-BEF3-7773-4A6D2378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4DEB9E-84E3-6F92-A1AE-DC62C4FA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9170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A060-7D22-D1A3-1D55-7B1ED47D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260B7D-4441-0A92-B891-7ECE34CF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AD5C0-11FF-DB41-DFB6-B6542EC9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597A9-D40A-95A0-C429-7B9BBFD0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5351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9BE18-3DA0-13BC-D992-608E1C23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14C2FF-556B-EE2E-F856-C104E3D1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E1E91-6F24-3B02-F93E-CE952D69D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7396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C120-75CB-9C9B-D744-EE1270B3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8652E-49E4-D4B0-C0D4-C905428C0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66E48-403B-026F-F1DD-775236737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1F378-E95A-EBA9-4694-F3DF70BF9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1D5C5-BE90-1EBE-8E36-1A2BFEDE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3DFE0-7191-2FF1-D598-63A602AD2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8098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455CF-2C43-620B-1829-B2B912499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A732F-7874-5A7F-9312-1510DBDCC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0EF51-01A1-99A4-0A40-231D595AB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B1F4F-B677-DCC4-F304-C372F2820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521A-7FCA-248A-E1BE-CFCAFF6C9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8F3F8-8810-67D6-6042-64F3F1F0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3091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897B2-A7AE-C526-4420-6D151334C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37954-97AD-2398-338C-D2E8F28AC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89801-BFC7-ECEA-DA91-62D0CC60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145A8-DEA1-80A3-C55F-0839250E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06B26-AE96-EEC0-E4B7-AEFC3347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8155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87CF02-386C-717A-059B-5C26A52B91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531DE-F411-C84B-9C3B-70A6EE1C8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67DE9-02EA-43A9-37CC-FF53612C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879B2-BD09-DF8C-D083-624AE434C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38630-5A3D-7895-8C41-5CCD66F0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5840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9"/>
          <p:cNvSpPr txBox="1">
            <a:spLocks noGrp="1"/>
          </p:cNvSpPr>
          <p:nvPr>
            <p:ph type="title"/>
          </p:nvPr>
        </p:nvSpPr>
        <p:spPr>
          <a:xfrm>
            <a:off x="838201" y="3272817"/>
            <a:ext cx="7753200" cy="1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None/>
              <a:defRPr sz="32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39"/>
          <p:cNvSpPr txBox="1">
            <a:spLocks noGrp="1"/>
          </p:cNvSpPr>
          <p:nvPr>
            <p:ph type="body" idx="1"/>
          </p:nvPr>
        </p:nvSpPr>
        <p:spPr>
          <a:xfrm>
            <a:off x="838199" y="4534596"/>
            <a:ext cx="77532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570" marR="0" lvl="0" indent="-304784" algn="l" rtl="0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2133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1219140" marR="0" lvl="1" indent="-304784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828709" marR="0" lvl="2" indent="-304784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2438278" marR="0" lvl="3" indent="-304784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3047848" marR="0" lvl="4" indent="-304784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3657418" marR="0" lvl="5" indent="-457178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6987" marR="0" lvl="6" indent="-457178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557" marR="0" lvl="7" indent="-457178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126" marR="0" lvl="8" indent="-457178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5822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3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lt2"/>
                </a:solidFill>
              </a:defRPr>
            </a:lvl1pPr>
            <a:lvl2pPr lvl="1" algn="r">
              <a:buNone/>
              <a:defRPr sz="1333">
                <a:solidFill>
                  <a:schemeClr val="lt2"/>
                </a:solidFill>
              </a:defRPr>
            </a:lvl2pPr>
            <a:lvl3pPr lvl="2" algn="r">
              <a:buNone/>
              <a:defRPr sz="1333">
                <a:solidFill>
                  <a:schemeClr val="lt2"/>
                </a:solidFill>
              </a:defRPr>
            </a:lvl3pPr>
            <a:lvl4pPr lvl="3" algn="r">
              <a:buNone/>
              <a:defRPr sz="1333">
                <a:solidFill>
                  <a:schemeClr val="lt2"/>
                </a:solidFill>
              </a:defRPr>
            </a:lvl4pPr>
            <a:lvl5pPr lvl="4" algn="r">
              <a:buNone/>
              <a:defRPr sz="1333">
                <a:solidFill>
                  <a:schemeClr val="lt2"/>
                </a:solidFill>
              </a:defRPr>
            </a:lvl5pPr>
            <a:lvl6pPr lvl="5" algn="r">
              <a:buNone/>
              <a:defRPr sz="1333">
                <a:solidFill>
                  <a:schemeClr val="lt2"/>
                </a:solidFill>
              </a:defRPr>
            </a:lvl6pPr>
            <a:lvl7pPr lvl="6" algn="r">
              <a:buNone/>
              <a:defRPr sz="1333">
                <a:solidFill>
                  <a:schemeClr val="lt2"/>
                </a:solidFill>
              </a:defRPr>
            </a:lvl7pPr>
            <a:lvl8pPr lvl="7" algn="r">
              <a:buNone/>
              <a:defRPr sz="1333">
                <a:solidFill>
                  <a:schemeClr val="lt2"/>
                </a:solidFill>
              </a:defRPr>
            </a:lvl8pPr>
            <a:lvl9pPr lvl="8" algn="r">
              <a:buNone/>
              <a:defRPr sz="1333">
                <a:solidFill>
                  <a:schemeClr val="lt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255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69" r:id="rId4"/>
    <p:sldLayoutId id="214748377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C378D-196D-1FE9-3E5B-B121AE82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CBDC9-D781-AFEF-F887-73A54EB32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4CE5C-B482-9752-8C8A-5501C19DA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676A4-AA30-A8D2-C5FD-E2811D47D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6BB3C-A3ED-7D36-92C7-6305D7052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9069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F4141-1EFF-6E0E-1229-782040BCC6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" y="4284"/>
            <a:ext cx="12165123" cy="6849431"/>
          </a:xfrm>
          <a:prstGeom prst="rect">
            <a:avLst/>
          </a:prstGeom>
        </p:spPr>
      </p:pic>
      <p:pic>
        <p:nvPicPr>
          <p:cNvPr id="4" name="Google Shape;54;p13">
            <a:extLst>
              <a:ext uri="{FF2B5EF4-FFF2-40B4-BE49-F238E27FC236}">
                <a16:creationId xmlns:a16="http://schemas.microsoft.com/office/drawing/2014/main" id="{64BB0B09-0AA8-1352-1564-53D8F24F054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281" y="2303786"/>
            <a:ext cx="6161531" cy="16125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129A08BE-4AF6-1CEE-A6A4-62D725068CEA}"/>
              </a:ext>
            </a:extLst>
          </p:cNvPr>
          <p:cNvSpPr txBox="1"/>
          <p:nvPr/>
        </p:nvSpPr>
        <p:spPr>
          <a:xfrm>
            <a:off x="855600" y="3747930"/>
            <a:ext cx="650213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SG" sz="2400" dirty="0">
                <a:solidFill>
                  <a:schemeClr val="bg1"/>
                </a:solidFill>
                <a:latin typeface="Barlow"/>
                <a:ea typeface="Chakra Petch Light"/>
                <a:cs typeface="Futura Medium"/>
                <a:sym typeface="Chakra Petch Light"/>
              </a:rPr>
              <a:t>ROBOVERSE DRONE CHALLENGE</a:t>
            </a:r>
            <a:endParaRPr lang="en-US" sz="2400" dirty="0">
              <a:solidFill>
                <a:schemeClr val="bg1"/>
              </a:solidFill>
              <a:latin typeface="Barlow"/>
              <a:ea typeface="Chakra Petch Light"/>
              <a:cs typeface="Futura Medium"/>
            </a:endParaRPr>
          </a:p>
        </p:txBody>
      </p:sp>
    </p:spTree>
    <p:extLst>
      <p:ext uri="{BB962C8B-B14F-4D97-AF65-F5344CB8AC3E}">
        <p14:creationId xmlns:p14="http://schemas.microsoft.com/office/powerpoint/2010/main" val="88554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56EA80-B9ED-6041-D876-A5487B2AD3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20" name="Google Shape;920;p84"/>
          <p:cNvSpPr txBox="1"/>
          <p:nvPr/>
        </p:nvSpPr>
        <p:spPr>
          <a:xfrm>
            <a:off x="2536825" y="2967039"/>
            <a:ext cx="71184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 defTabSz="1219170">
              <a:buClr>
                <a:srgbClr val="000000"/>
              </a:buClr>
              <a:buSzPts val="4100"/>
            </a:pPr>
            <a:r>
              <a:rPr lang="en-GB" sz="4800" b="1" kern="0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EVAC route</a:t>
            </a:r>
            <a:endParaRPr sz="800" b="1" kern="0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336DF4-764B-4B09-0346-D150A95CF907}"/>
              </a:ext>
            </a:extLst>
          </p:cNvPr>
          <p:cNvGrpSpPr/>
          <p:nvPr/>
        </p:nvGrpSpPr>
        <p:grpSpPr>
          <a:xfrm>
            <a:off x="323903" y="2122442"/>
            <a:ext cx="6000506" cy="3914690"/>
            <a:chOff x="435116" y="1331584"/>
            <a:chExt cx="7548519" cy="482056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4C720F7-02C5-7156-4D4E-21BAC1829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32"/>
            <a:stretch/>
          </p:blipFill>
          <p:spPr>
            <a:xfrm>
              <a:off x="435116" y="1331584"/>
              <a:ext cx="7533104" cy="4820561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80B0C79-40B1-ED5F-824E-33AD3DDB5B9F}"/>
                </a:ext>
              </a:extLst>
            </p:cNvPr>
            <p:cNvSpPr/>
            <p:nvPr/>
          </p:nvSpPr>
          <p:spPr>
            <a:xfrm>
              <a:off x="7387389" y="5566930"/>
              <a:ext cx="596246" cy="585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SG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732674-3FB0-CF22-AA58-8C051AC749FC}"/>
                </a:ext>
              </a:extLst>
            </p:cNvPr>
            <p:cNvSpPr/>
            <p:nvPr/>
          </p:nvSpPr>
          <p:spPr>
            <a:xfrm>
              <a:off x="1034716" y="3136232"/>
              <a:ext cx="737937" cy="873793"/>
            </a:xfrm>
            <a:prstGeom prst="rect">
              <a:avLst/>
            </a:prstGeom>
            <a:solidFill>
              <a:schemeClr val="tx1">
                <a:alpha val="80000"/>
              </a:scheme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600" dirty="0" err="1"/>
                <a:t>SuperAI</a:t>
              </a:r>
              <a:endParaRPr lang="en-SG" sz="600" dirty="0"/>
            </a:p>
            <a:p>
              <a:pPr algn="ctr"/>
              <a:r>
                <a:rPr lang="en-SG" sz="600" dirty="0"/>
                <a:t>Conference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B4F5F5-7685-A603-B275-1149FAFF87C1}"/>
                </a:ext>
              </a:extLst>
            </p:cNvPr>
            <p:cNvSpPr/>
            <p:nvPr/>
          </p:nvSpPr>
          <p:spPr>
            <a:xfrm>
              <a:off x="1973655" y="3112580"/>
              <a:ext cx="737937" cy="497395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80000"/>
              </a:scheme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700" dirty="0" err="1"/>
                <a:t>Xrperience</a:t>
              </a:r>
              <a:endParaRPr lang="en-SG" sz="7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695E72A-F003-78CB-C338-E6F044018A5F}"/>
                </a:ext>
              </a:extLst>
            </p:cNvPr>
            <p:cNvSpPr/>
            <p:nvPr/>
          </p:nvSpPr>
          <p:spPr>
            <a:xfrm>
              <a:off x="1970020" y="3609976"/>
              <a:ext cx="737937" cy="400050"/>
            </a:xfrm>
            <a:prstGeom prst="rect">
              <a:avLst/>
            </a:prstGeom>
            <a:solidFill>
              <a:schemeClr val="accent1">
                <a:lumMod val="50000"/>
                <a:alpha val="80000"/>
              </a:scheme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700" dirty="0" err="1"/>
                <a:t>InfraXCode</a:t>
              </a:r>
              <a:endParaRPr lang="en-SG" sz="7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7AB4586-FCB6-ACC3-F8D0-7C2D9B72C0A3}"/>
                </a:ext>
              </a:extLst>
            </p:cNvPr>
            <p:cNvSpPr/>
            <p:nvPr/>
          </p:nvSpPr>
          <p:spPr>
            <a:xfrm>
              <a:off x="2895799" y="3362325"/>
              <a:ext cx="737937" cy="647700"/>
            </a:xfrm>
            <a:prstGeom prst="rect">
              <a:avLst/>
            </a:prstGeom>
            <a:solidFill>
              <a:srgbClr val="00B050">
                <a:alpha val="80000"/>
              </a:srgb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700" dirty="0"/>
                <a:t>CODE_EXP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31E9AF-2EC5-5F6A-052B-341EAC8D3561}"/>
                </a:ext>
              </a:extLst>
            </p:cNvPr>
            <p:cNvSpPr/>
            <p:nvPr/>
          </p:nvSpPr>
          <p:spPr>
            <a:xfrm>
              <a:off x="3817943" y="3362325"/>
              <a:ext cx="361627" cy="247650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600" dirty="0"/>
                <a:t>Pico</a:t>
              </a:r>
              <a:endParaRPr lang="en-SG" sz="9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F9CBF4F-1D70-ECE7-3C3A-647A6B2C1010}"/>
                </a:ext>
              </a:extLst>
            </p:cNvPr>
            <p:cNvSpPr/>
            <p:nvPr/>
          </p:nvSpPr>
          <p:spPr>
            <a:xfrm>
              <a:off x="4179570" y="3362325"/>
              <a:ext cx="360045" cy="247650"/>
            </a:xfrm>
            <a:prstGeom prst="rect">
              <a:avLst/>
            </a:prstGeom>
            <a:solidFill>
              <a:schemeClr val="accent2">
                <a:lumMod val="75000"/>
                <a:alpha val="80000"/>
              </a:scheme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600" dirty="0"/>
                <a:t>DSTA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971E9EC-90E7-FC5C-3E55-E0FC1E34E744}"/>
                </a:ext>
              </a:extLst>
            </p:cNvPr>
            <p:cNvSpPr/>
            <p:nvPr/>
          </p:nvSpPr>
          <p:spPr>
            <a:xfrm>
              <a:off x="3817943" y="3613785"/>
              <a:ext cx="360045" cy="24765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80000"/>
              </a:scheme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500" dirty="0"/>
                <a:t>Media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40AE57-3683-6871-CD49-ED471BF3F734}"/>
                </a:ext>
              </a:extLst>
            </p:cNvPr>
            <p:cNvSpPr/>
            <p:nvPr/>
          </p:nvSpPr>
          <p:spPr>
            <a:xfrm>
              <a:off x="4177988" y="3613786"/>
              <a:ext cx="360045" cy="247650"/>
            </a:xfrm>
            <a:prstGeom prst="rect">
              <a:avLst/>
            </a:prstGeom>
            <a:solidFill>
              <a:srgbClr val="FF0000">
                <a:alpha val="80000"/>
              </a:srgb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500" dirty="0"/>
                <a:t>VIP Room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8691F92-D555-F6A3-7561-0BD6D7F872E5}"/>
                </a:ext>
              </a:extLst>
            </p:cNvPr>
            <p:cNvSpPr/>
            <p:nvPr/>
          </p:nvSpPr>
          <p:spPr>
            <a:xfrm>
              <a:off x="4748561" y="3609975"/>
              <a:ext cx="710718" cy="435083"/>
            </a:xfrm>
            <a:prstGeom prst="rect">
              <a:avLst/>
            </a:prstGeom>
            <a:solidFill>
              <a:srgbClr val="FFFF00">
                <a:alpha val="80000"/>
              </a:srgb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600" dirty="0" err="1">
                  <a:solidFill>
                    <a:schemeClr val="bg1"/>
                  </a:solidFill>
                </a:rPr>
                <a:t>Spacecube</a:t>
              </a:r>
              <a:endParaRPr lang="en-SG" sz="600" dirty="0">
                <a:solidFill>
                  <a:schemeClr val="bg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CFD247B-EA11-E853-F885-2B6C7FEBE34B}"/>
                </a:ext>
              </a:extLst>
            </p:cNvPr>
            <p:cNvSpPr/>
            <p:nvPr/>
          </p:nvSpPr>
          <p:spPr>
            <a:xfrm>
              <a:off x="5652858" y="3613785"/>
              <a:ext cx="360045" cy="247650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80000"/>
              </a:scheme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600" dirty="0"/>
                <a:t>Swag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1B7C159-6641-6B64-D209-065742CF7397}"/>
                </a:ext>
              </a:extLst>
            </p:cNvPr>
            <p:cNvSpPr/>
            <p:nvPr/>
          </p:nvSpPr>
          <p:spPr>
            <a:xfrm rot="5400000">
              <a:off x="5614587" y="4303004"/>
              <a:ext cx="280149" cy="188177"/>
            </a:xfrm>
            <a:prstGeom prst="rect">
              <a:avLst/>
            </a:prstGeom>
            <a:solidFill>
              <a:schemeClr val="bg1">
                <a:lumMod val="50000"/>
                <a:alpha val="80000"/>
              </a:scheme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400" dirty="0"/>
                <a:t>First aid</a:t>
              </a:r>
              <a:endParaRPr lang="en-SG" sz="6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8A10435-D2D7-B367-A25A-B9BF800F23CB}"/>
                </a:ext>
              </a:extLst>
            </p:cNvPr>
            <p:cNvSpPr/>
            <p:nvPr/>
          </p:nvSpPr>
          <p:spPr>
            <a:xfrm>
              <a:off x="4748562" y="4259357"/>
              <a:ext cx="710718" cy="1031099"/>
            </a:xfrm>
            <a:prstGeom prst="rect">
              <a:avLst/>
            </a:prstGeom>
            <a:solidFill>
              <a:srgbClr val="7030A0">
                <a:alpha val="80000"/>
              </a:srgb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900" dirty="0"/>
                <a:t>TIL_AI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F354C8E-303F-AEA6-6D9C-1CD78E5F2C57}"/>
                </a:ext>
              </a:extLst>
            </p:cNvPr>
            <p:cNvSpPr/>
            <p:nvPr/>
          </p:nvSpPr>
          <p:spPr>
            <a:xfrm>
              <a:off x="3817943" y="4257018"/>
              <a:ext cx="710718" cy="789599"/>
            </a:xfrm>
            <a:prstGeom prst="rect">
              <a:avLst/>
            </a:prstGeom>
            <a:solidFill>
              <a:srgbClr val="CC6600">
                <a:alpha val="80000"/>
              </a:srgb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600" dirty="0" err="1"/>
                <a:t>Roboverse</a:t>
              </a:r>
              <a:endParaRPr lang="en-SG" sz="6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C071C9B-68D3-17A2-275F-D9D01743B5B2}"/>
                </a:ext>
              </a:extLst>
            </p:cNvPr>
            <p:cNvSpPr/>
            <p:nvPr/>
          </p:nvSpPr>
          <p:spPr>
            <a:xfrm>
              <a:off x="3817943" y="5043480"/>
              <a:ext cx="710718" cy="789599"/>
            </a:xfrm>
            <a:prstGeom prst="rect">
              <a:avLst/>
            </a:prstGeom>
            <a:solidFill>
              <a:srgbClr val="CC66FF">
                <a:alpha val="80000"/>
              </a:srgb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900" dirty="0"/>
                <a:t>Sentinel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DD25016-00C8-B882-8F09-DDFFB3A65AB3}"/>
                </a:ext>
              </a:extLst>
            </p:cNvPr>
            <p:cNvSpPr/>
            <p:nvPr/>
          </p:nvSpPr>
          <p:spPr>
            <a:xfrm>
              <a:off x="2895799" y="4259357"/>
              <a:ext cx="737937" cy="1547083"/>
            </a:xfrm>
            <a:prstGeom prst="rect">
              <a:avLst/>
            </a:prstGeom>
            <a:solidFill>
              <a:srgbClr val="0070C0">
                <a:alpha val="80000"/>
              </a:srgb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900" dirty="0"/>
                <a:t>CDDC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5842C58-3552-82F1-8823-E794704CCBCE}"/>
                </a:ext>
              </a:extLst>
            </p:cNvPr>
            <p:cNvSpPr/>
            <p:nvPr/>
          </p:nvSpPr>
          <p:spPr>
            <a:xfrm>
              <a:off x="1034717" y="4269938"/>
              <a:ext cx="833708" cy="1547083"/>
            </a:xfrm>
            <a:prstGeom prst="rect">
              <a:avLst/>
            </a:prstGeom>
            <a:solidFill>
              <a:srgbClr val="FFFF99">
                <a:alpha val="80000"/>
              </a:srgb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900" dirty="0"/>
                <a:t>MAIN</a:t>
              </a:r>
            </a:p>
            <a:p>
              <a:pPr algn="ctr"/>
              <a:r>
                <a:rPr lang="en-SG" sz="900" dirty="0"/>
                <a:t>STAGE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633FB94-E4B5-C490-7DED-C0878D5EC39F}"/>
                </a:ext>
              </a:extLst>
            </p:cNvPr>
            <p:cNvSpPr/>
            <p:nvPr/>
          </p:nvSpPr>
          <p:spPr>
            <a:xfrm>
              <a:off x="1872333" y="4270715"/>
              <a:ext cx="833708" cy="1547083"/>
            </a:xfrm>
            <a:prstGeom prst="rect">
              <a:avLst/>
            </a:prstGeom>
            <a:solidFill>
              <a:srgbClr val="33CCFF">
                <a:alpha val="80000"/>
              </a:srgbClr>
            </a:solidFill>
            <a:ln>
              <a:solidFill>
                <a:schemeClr val="tx1">
                  <a:alpha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SG" sz="800" dirty="0"/>
                <a:t>TECH</a:t>
              </a:r>
            </a:p>
            <a:p>
              <a:pPr algn="ctr"/>
              <a:r>
                <a:rPr lang="en-SG" sz="800" dirty="0"/>
                <a:t>SHOWCASE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CFE19BE-4F97-F1D2-A1F5-945E817D8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432" y="2124634"/>
            <a:ext cx="5572664" cy="3848550"/>
          </a:xfrm>
          <a:prstGeom prst="rect">
            <a:avLst/>
          </a:prstGeom>
        </p:spPr>
      </p:pic>
      <p:sp>
        <p:nvSpPr>
          <p:cNvPr id="6" name="TextBox 27">
            <a:extLst>
              <a:ext uri="{FF2B5EF4-FFF2-40B4-BE49-F238E27FC236}">
                <a16:creationId xmlns:a16="http://schemas.microsoft.com/office/drawing/2014/main" id="{BC806AC0-FF39-5757-539C-5C785ECDD07B}"/>
              </a:ext>
            </a:extLst>
          </p:cNvPr>
          <p:cNvSpPr txBox="1"/>
          <p:nvPr/>
        </p:nvSpPr>
        <p:spPr>
          <a:xfrm>
            <a:off x="2615315" y="6072659"/>
            <a:ext cx="1405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 u="sng" dirty="0"/>
              <a:t>MBS L4 layout</a:t>
            </a:r>
          </a:p>
        </p:txBody>
      </p:sp>
      <p:sp>
        <p:nvSpPr>
          <p:cNvPr id="7" name="TextBox 30">
            <a:extLst>
              <a:ext uri="{FF2B5EF4-FFF2-40B4-BE49-F238E27FC236}">
                <a16:creationId xmlns:a16="http://schemas.microsoft.com/office/drawing/2014/main" id="{19AD26E4-8993-9FD6-9741-1534A43F27E1}"/>
              </a:ext>
            </a:extLst>
          </p:cNvPr>
          <p:cNvSpPr txBox="1"/>
          <p:nvPr/>
        </p:nvSpPr>
        <p:spPr>
          <a:xfrm>
            <a:off x="8334888" y="5958936"/>
            <a:ext cx="1981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 u="sng" dirty="0"/>
              <a:t>MBS L1 assembly point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A7ACFA-CC80-4D52-D732-8449579841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72" t="79113" r="73736"/>
          <a:stretch/>
        </p:blipFill>
        <p:spPr>
          <a:xfrm>
            <a:off x="9239304" y="662087"/>
            <a:ext cx="2161673" cy="13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4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47D9256-55AC-0B76-392C-4BBC39CEE11C}"/>
              </a:ext>
            </a:extLst>
          </p:cNvPr>
          <p:cNvSpPr txBox="1"/>
          <p:nvPr/>
        </p:nvSpPr>
        <p:spPr>
          <a:xfrm>
            <a:off x="295359" y="1491323"/>
            <a:ext cx="11066908" cy="3604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b="1" u="sng" dirty="0">
                <a:latin typeface="Barlow"/>
              </a:rPr>
              <a:t>Scenario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Your team receives intelligence of the enemy’s transport convoy travelling routes. Your mission is to gather information on the convoy.</a:t>
            </a:r>
          </a:p>
          <a:p>
            <a:pPr algn="just"/>
            <a:endParaRPr lang="en-SG" b="1" dirty="0">
              <a:latin typeface="Barlow"/>
            </a:endParaRPr>
          </a:p>
          <a:p>
            <a:pPr algn="just"/>
            <a:r>
              <a:rPr lang="en-SG" b="1" u="sng" dirty="0">
                <a:latin typeface="Barlow"/>
              </a:rPr>
              <a:t>Objective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To eliminate all targets of the convoy.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SG" dirty="0">
              <a:latin typeface="Barlow"/>
            </a:endParaRPr>
          </a:p>
          <a:p>
            <a:pPr algn="just"/>
            <a:r>
              <a:rPr lang="en-SG" b="1" u="sng" dirty="0">
                <a:latin typeface="Barlow"/>
              </a:rPr>
              <a:t>Challenge</a:t>
            </a:r>
          </a:p>
          <a:p>
            <a:pPr algn="just">
              <a:spcBef>
                <a:spcPts val="600"/>
              </a:spcBef>
            </a:pPr>
            <a:r>
              <a:rPr lang="en-SG" dirty="0">
                <a:latin typeface="Barlow"/>
              </a:rPr>
              <a:t>The challenge will be carried out in 2 stages:</a:t>
            </a:r>
          </a:p>
          <a:p>
            <a:pPr marL="720725" indent="-360363" algn="just">
              <a:lnSpc>
                <a:spcPct val="150000"/>
              </a:lnSpc>
              <a:buFont typeface="+mj-lt"/>
              <a:buAutoNum type="arabicPeriod"/>
            </a:pPr>
            <a:r>
              <a:rPr lang="en-SG" dirty="0">
                <a:latin typeface="Barlow"/>
              </a:rPr>
              <a:t>Reconnaissance (University teams only) [Stage 1]</a:t>
            </a:r>
          </a:p>
          <a:p>
            <a:pPr marL="720725" indent="-360363" algn="just">
              <a:lnSpc>
                <a:spcPct val="150000"/>
              </a:lnSpc>
              <a:buFont typeface="+mj-lt"/>
              <a:buAutoNum type="arabicPeriod"/>
            </a:pPr>
            <a:r>
              <a:rPr lang="en-SG" dirty="0">
                <a:latin typeface="Barlow"/>
              </a:rPr>
              <a:t>Deployment &amp; Ambush [Stage 2]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59A4E3-E25E-9083-133A-13413030A2FF}"/>
              </a:ext>
            </a:extLst>
          </p:cNvPr>
          <p:cNvSpPr txBox="1"/>
          <p:nvPr/>
        </p:nvSpPr>
        <p:spPr>
          <a:xfrm>
            <a:off x="389792" y="635004"/>
            <a:ext cx="32147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Final Competition</a:t>
            </a:r>
          </a:p>
        </p:txBody>
      </p:sp>
    </p:spTree>
    <p:extLst>
      <p:ext uri="{BB962C8B-B14F-4D97-AF65-F5344CB8AC3E}">
        <p14:creationId xmlns:p14="http://schemas.microsoft.com/office/powerpoint/2010/main" val="4041874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074BFE73-54F0-0D09-CFC7-2F16DDBE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53C1C-53A0-670A-647D-2FFA984069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" y="-1"/>
            <a:ext cx="12184333" cy="6862317"/>
          </a:xfrm>
          <a:prstGeom prst="rect">
            <a:avLst/>
          </a:prstGeom>
        </p:spPr>
      </p:pic>
      <p:sp>
        <p:nvSpPr>
          <p:cNvPr id="2" name="Google Shape;162;p37">
            <a:extLst>
              <a:ext uri="{FF2B5EF4-FFF2-40B4-BE49-F238E27FC236}">
                <a16:creationId xmlns:a16="http://schemas.microsoft.com/office/drawing/2014/main" id="{150562C4-6131-FEF1-3782-FDC0380708CB}"/>
              </a:ext>
            </a:extLst>
          </p:cNvPr>
          <p:cNvSpPr txBox="1"/>
          <p:nvPr/>
        </p:nvSpPr>
        <p:spPr>
          <a:xfrm>
            <a:off x="908742" y="1690577"/>
            <a:ext cx="6724800" cy="2923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70000"/>
              </a:lnSpc>
              <a:buClr>
                <a:srgbClr val="000000"/>
              </a:buClr>
            </a:pPr>
            <a:r>
              <a:rPr lang="en-SG" sz="6400" kern="0" dirty="0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CHALLENGE STAGES</a:t>
            </a:r>
            <a:endParaRPr sz="6400" kern="0" dirty="0">
              <a:solidFill>
                <a:srgbClr val="FFFFFF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8A6DF-1486-430C-83F9-C0937B691F6B}"/>
              </a:ext>
            </a:extLst>
          </p:cNvPr>
          <p:cNvSpPr/>
          <p:nvPr/>
        </p:nvSpPr>
        <p:spPr>
          <a:xfrm>
            <a:off x="10893669" y="6484407"/>
            <a:ext cx="817685" cy="36927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79886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47D9256-55AC-0B76-392C-4BBC39CEE11C}"/>
              </a:ext>
            </a:extLst>
          </p:cNvPr>
          <p:cNvSpPr txBox="1"/>
          <p:nvPr/>
        </p:nvSpPr>
        <p:spPr>
          <a:xfrm>
            <a:off x="265622" y="1282314"/>
            <a:ext cx="5941519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en-SG" sz="1400" b="1" u="sng" dirty="0">
                <a:latin typeface="Barlow"/>
              </a:rPr>
              <a:t>Gameplay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A Mapping Drone with Stereo Camera will be deployed to map the arena.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The arena comprises obstacles and 5 Drone Landing Pads, each attached with an </a:t>
            </a:r>
            <a:r>
              <a:rPr lang="en-SG" sz="1400" dirty="0" err="1">
                <a:latin typeface="Barlow"/>
              </a:rPr>
              <a:t>Aruco</a:t>
            </a:r>
            <a:r>
              <a:rPr lang="en-SG" sz="1400" dirty="0">
                <a:latin typeface="Barlow"/>
              </a:rPr>
              <a:t> Marker. 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The Mapping Drone will return a </a:t>
            </a:r>
            <a:r>
              <a:rPr lang="en-SG" sz="1400" u="sng" dirty="0">
                <a:latin typeface="Barlow"/>
              </a:rPr>
              <a:t>top-down</a:t>
            </a:r>
            <a:r>
              <a:rPr lang="en-SG" sz="1400" dirty="0">
                <a:latin typeface="Barlow"/>
              </a:rPr>
              <a:t> depth map, and images of the </a:t>
            </a:r>
            <a:r>
              <a:rPr lang="en-SG" sz="1400" dirty="0" err="1">
                <a:latin typeface="Barlow"/>
              </a:rPr>
              <a:t>Aruco</a:t>
            </a:r>
            <a:r>
              <a:rPr lang="en-SG" sz="1400" dirty="0">
                <a:latin typeface="Barlow"/>
              </a:rPr>
              <a:t> Marker. 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Before the assessment starts, the valid and invalid </a:t>
            </a:r>
            <a:r>
              <a:rPr lang="en-SG" sz="1400" dirty="0" err="1">
                <a:latin typeface="Barlow"/>
              </a:rPr>
              <a:t>Aruco</a:t>
            </a:r>
            <a:r>
              <a:rPr lang="en-SG" sz="1400" dirty="0">
                <a:latin typeface="Barlow"/>
              </a:rPr>
              <a:t> Marker IDs will be announced. Teams are expected to decipher the </a:t>
            </a:r>
            <a:r>
              <a:rPr lang="en-SG" sz="1400" dirty="0" err="1">
                <a:latin typeface="Barlow"/>
              </a:rPr>
              <a:t>Aruco</a:t>
            </a:r>
            <a:r>
              <a:rPr lang="en-SG" sz="1400" dirty="0">
                <a:latin typeface="Barlow"/>
              </a:rPr>
              <a:t> Marker to check if each landing site is valid for landing.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u="sng" dirty="0">
                <a:latin typeface="Barlow"/>
              </a:rPr>
              <a:t>Teams will have to output and annotate the </a:t>
            </a:r>
            <a:r>
              <a:rPr lang="en-SG" sz="1400" u="sng" dirty="0" err="1">
                <a:latin typeface="Barlow"/>
              </a:rPr>
              <a:t>Aruco</a:t>
            </a:r>
            <a:r>
              <a:rPr lang="en-SG" sz="1400" u="sng" dirty="0">
                <a:latin typeface="Barlow"/>
              </a:rPr>
              <a:t> markers (see bottom right for example)</a:t>
            </a:r>
            <a:r>
              <a:rPr lang="en-SG" sz="1400" dirty="0">
                <a:latin typeface="Barlow"/>
              </a:rPr>
              <a:t>.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SG" sz="1400" dirty="0">
              <a:latin typeface="Barlow"/>
            </a:endParaRPr>
          </a:p>
          <a:p>
            <a:pPr algn="just">
              <a:spcBef>
                <a:spcPts val="300"/>
              </a:spcBef>
            </a:pPr>
            <a:r>
              <a:rPr lang="en-SG" sz="1400" b="1" u="sng" dirty="0">
                <a:latin typeface="Barlow"/>
              </a:rPr>
              <a:t>Other Rules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Maximum speed for Mapping Drone: </a:t>
            </a:r>
            <a:r>
              <a:rPr lang="en-SG" sz="1400" u="sng" dirty="0">
                <a:latin typeface="Barlow"/>
              </a:rPr>
              <a:t>0.3m/s</a:t>
            </a:r>
          </a:p>
          <a:p>
            <a:pPr algn="just">
              <a:spcBef>
                <a:spcPts val="300"/>
              </a:spcBef>
            </a:pPr>
            <a:endParaRPr lang="en-SG" sz="1400" b="1" dirty="0">
              <a:latin typeface="Barlow"/>
            </a:endParaRPr>
          </a:p>
          <a:p>
            <a:pPr algn="just">
              <a:spcBef>
                <a:spcPts val="300"/>
              </a:spcBef>
            </a:pPr>
            <a:r>
              <a:rPr lang="en-SG" sz="1400" b="1" u="sng" dirty="0">
                <a:latin typeface="Barlow"/>
              </a:rPr>
              <a:t>Evaluation Criteria</a:t>
            </a:r>
            <a:endParaRPr lang="en-SG" sz="1400" dirty="0">
              <a:latin typeface="Barlow"/>
            </a:endParaRP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Teams will be awarded points based on their understanding of the concept, mapping speed, and the accuracy of identifying landing sites as valid or invalid.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SG" sz="1400" dirty="0">
              <a:latin typeface="Barlow"/>
            </a:endParaRPr>
          </a:p>
          <a:p>
            <a:pPr algn="just">
              <a:spcBef>
                <a:spcPts val="300"/>
              </a:spcBef>
            </a:pPr>
            <a:r>
              <a:rPr lang="en-SG" sz="1400" b="1" u="sng" dirty="0">
                <a:latin typeface="Barlow"/>
              </a:rPr>
              <a:t>To note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The landing pads for the assessment will have a different configuration compared to the test set-up.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59A4E3-E25E-9083-133A-13413030A2FF}"/>
              </a:ext>
            </a:extLst>
          </p:cNvPr>
          <p:cNvSpPr txBox="1"/>
          <p:nvPr/>
        </p:nvSpPr>
        <p:spPr>
          <a:xfrm>
            <a:off x="389792" y="635004"/>
            <a:ext cx="67435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Challenge One (University teams Only)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30DC8BF-939E-F22B-D732-1A3DE975EE10}"/>
              </a:ext>
            </a:extLst>
          </p:cNvPr>
          <p:cNvSpPr/>
          <p:nvPr/>
        </p:nvSpPr>
        <p:spPr>
          <a:xfrm>
            <a:off x="6348048" y="1491323"/>
            <a:ext cx="5244042" cy="44708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latin typeface="Barlow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5B589C8A-FA5A-6BAA-F456-2B8E7DF13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728" y="1993918"/>
            <a:ext cx="4568674" cy="3703789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017C3668-03F7-3FFE-7E20-2D9FAA8D6DE1}"/>
              </a:ext>
            </a:extLst>
          </p:cNvPr>
          <p:cNvSpPr txBox="1"/>
          <p:nvPr/>
        </p:nvSpPr>
        <p:spPr>
          <a:xfrm>
            <a:off x="6348048" y="1639365"/>
            <a:ext cx="1776045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SG" sz="1200" dirty="0">
                <a:solidFill>
                  <a:schemeClr val="bg1"/>
                </a:solidFill>
                <a:latin typeface="Barlow"/>
              </a:rPr>
              <a:t>1x Mapping Drone </a:t>
            </a:r>
          </a:p>
          <a:p>
            <a:pPr algn="ctr"/>
            <a:r>
              <a:rPr lang="en-SG" sz="1200" dirty="0">
                <a:solidFill>
                  <a:schemeClr val="bg1"/>
                </a:solidFill>
                <a:latin typeface="Barlow"/>
              </a:rPr>
              <a:t>(Intel </a:t>
            </a:r>
            <a:r>
              <a:rPr lang="en-SG" sz="1200" dirty="0" err="1">
                <a:solidFill>
                  <a:schemeClr val="bg1"/>
                </a:solidFill>
                <a:latin typeface="Barlow"/>
              </a:rPr>
              <a:t>Realsense</a:t>
            </a:r>
            <a:r>
              <a:rPr lang="en-SG" sz="1200" dirty="0">
                <a:solidFill>
                  <a:schemeClr val="bg1"/>
                </a:solidFill>
                <a:latin typeface="Barlow"/>
              </a:rPr>
              <a:t> Stereo Camera)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0E3381-2EE3-785A-BA8D-C979878525A4}"/>
              </a:ext>
            </a:extLst>
          </p:cNvPr>
          <p:cNvSpPr txBox="1"/>
          <p:nvPr/>
        </p:nvSpPr>
        <p:spPr>
          <a:xfrm>
            <a:off x="6812928" y="5275946"/>
            <a:ext cx="1435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>
                <a:solidFill>
                  <a:schemeClr val="bg1"/>
                </a:solidFill>
                <a:latin typeface="Barlow"/>
              </a:rPr>
              <a:t>Participants’ C2 Terminal</a:t>
            </a:r>
            <a:endParaRPr lang="en-SG" sz="1400" b="1" dirty="0">
              <a:latin typeface="Barlow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0922178-AD18-E80F-2FEB-750DC184F573}"/>
              </a:ext>
            </a:extLst>
          </p:cNvPr>
          <p:cNvSpPr txBox="1"/>
          <p:nvPr/>
        </p:nvSpPr>
        <p:spPr>
          <a:xfrm>
            <a:off x="6629862" y="3466631"/>
            <a:ext cx="105208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100" i="1" dirty="0">
                <a:solidFill>
                  <a:schemeClr val="bg1"/>
                </a:solidFill>
                <a:latin typeface="Barlow"/>
              </a:rPr>
              <a:t>5.88Ghz Control +</a:t>
            </a:r>
          </a:p>
          <a:p>
            <a:pPr algn="ctr"/>
            <a:r>
              <a:rPr lang="en-SG" sz="1100" i="1" dirty="0">
                <a:solidFill>
                  <a:schemeClr val="bg1"/>
                </a:solidFill>
                <a:latin typeface="Barlow"/>
              </a:rPr>
              <a:t>Footage</a:t>
            </a:r>
            <a:endParaRPr lang="en-SG" sz="1100" i="1" dirty="0">
              <a:latin typeface="Barlow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0CE017BA-4A57-0A05-378C-5BC07EAD80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40" t="2022" r="1474" b="1452"/>
          <a:stretch/>
        </p:blipFill>
        <p:spPr>
          <a:xfrm>
            <a:off x="10532289" y="4273244"/>
            <a:ext cx="900113" cy="909638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8FD9D51D-C850-FCDA-B40C-49AA39B60146}"/>
              </a:ext>
            </a:extLst>
          </p:cNvPr>
          <p:cNvSpPr txBox="1"/>
          <p:nvPr/>
        </p:nvSpPr>
        <p:spPr>
          <a:xfrm>
            <a:off x="10403534" y="5182882"/>
            <a:ext cx="11576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SG" sz="1100" i="1" dirty="0" err="1">
                <a:latin typeface="Barlow"/>
              </a:rPr>
              <a:t>Aruco</a:t>
            </a:r>
            <a:r>
              <a:rPr lang="en-SG" sz="1100" dirty="0">
                <a:latin typeface="Barlow"/>
              </a:rPr>
              <a:t> Marker Placed Beside Landing Pad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CC0C8B-41A4-4AB1-ACC9-5C1F7FBDBB80}"/>
              </a:ext>
            </a:extLst>
          </p:cNvPr>
          <p:cNvSpPr/>
          <p:nvPr/>
        </p:nvSpPr>
        <p:spPr>
          <a:xfrm>
            <a:off x="10507190" y="4245210"/>
            <a:ext cx="925212" cy="9376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91025D-002E-4F08-B47C-571C0DDE6F73}"/>
              </a:ext>
            </a:extLst>
          </p:cNvPr>
          <p:cNvSpPr txBox="1"/>
          <p:nvPr/>
        </p:nvSpPr>
        <p:spPr>
          <a:xfrm>
            <a:off x="10440300" y="4575547"/>
            <a:ext cx="1071946" cy="276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SG" sz="1200" b="1" dirty="0">
                <a:solidFill>
                  <a:schemeClr val="bg1"/>
                </a:solidFill>
                <a:latin typeface="Barlow"/>
              </a:rPr>
              <a:t>ID number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BD54F4-3AC0-447C-A8BE-56DC5509E9C7}"/>
              </a:ext>
            </a:extLst>
          </p:cNvPr>
          <p:cNvSpPr txBox="1"/>
          <p:nvPr/>
        </p:nvSpPr>
        <p:spPr>
          <a:xfrm>
            <a:off x="9303014" y="595504"/>
            <a:ext cx="240835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sz="2400" dirty="0">
                <a:latin typeface="Barlow"/>
              </a:rPr>
              <a:t>Maximum: 8mins</a:t>
            </a:r>
          </a:p>
        </p:txBody>
      </p:sp>
    </p:spTree>
    <p:extLst>
      <p:ext uri="{BB962C8B-B14F-4D97-AF65-F5344CB8AC3E}">
        <p14:creationId xmlns:p14="http://schemas.microsoft.com/office/powerpoint/2010/main" val="660986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8709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E6E66B-55C2-B491-AF07-F210EF2989CF}"/>
              </a:ext>
            </a:extLst>
          </p:cNvPr>
          <p:cNvSpPr txBox="1"/>
          <p:nvPr/>
        </p:nvSpPr>
        <p:spPr>
          <a:xfrm>
            <a:off x="339993" y="1401153"/>
            <a:ext cx="4776485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en-SG" sz="1600" b="1" u="sng" dirty="0">
                <a:latin typeface="Barlow"/>
              </a:rPr>
              <a:t>Gameplay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Refer to Discord for the coordinates of valid landing points.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Using the provided coordinates, the team will select 3 out of 5 available landing zones.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Then, they will launch 3 HULA drones from the Command Centre (C2) to land on the designated areas in preparation for an ambush.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SG" sz="1600" dirty="0">
              <a:latin typeface="Barlow"/>
            </a:endParaRPr>
          </a:p>
          <a:p>
            <a:pPr algn="just">
              <a:spcBef>
                <a:spcPts val="300"/>
              </a:spcBef>
            </a:pPr>
            <a:r>
              <a:rPr lang="en-SG" sz="1600" b="1" u="sng" dirty="0">
                <a:latin typeface="Barlow"/>
              </a:rPr>
              <a:t>Other rules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For the HULA drone: Strictly no flying over obstacles. The recommended height is 1.1m. Any team found to violate this will have their scores invalidated.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Maximum speed for HULA drone: </a:t>
            </a:r>
            <a:r>
              <a:rPr lang="en-SG" sz="1600" u="sng" dirty="0">
                <a:latin typeface="Barlow"/>
              </a:rPr>
              <a:t>0.5m/s</a:t>
            </a:r>
          </a:p>
          <a:p>
            <a:pPr algn="just">
              <a:spcBef>
                <a:spcPts val="300"/>
              </a:spcBef>
            </a:pPr>
            <a:endParaRPr lang="en-SG" sz="1600" dirty="0">
              <a:latin typeface="Barlow"/>
            </a:endParaRPr>
          </a:p>
          <a:p>
            <a:pPr algn="just">
              <a:spcBef>
                <a:spcPts val="300"/>
              </a:spcBef>
            </a:pPr>
            <a:r>
              <a:rPr lang="en-SG" sz="1600" b="1" u="sng" dirty="0">
                <a:latin typeface="Barlow"/>
              </a:rPr>
              <a:t>Evaluation Criteria</a:t>
            </a:r>
          </a:p>
          <a:p>
            <a:pPr marL="285750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Points will be awarded for successful and accurate landings on the designated zones, in the least amount of time.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C54210-0F84-71D5-9A64-4049667A88D8}"/>
              </a:ext>
            </a:extLst>
          </p:cNvPr>
          <p:cNvSpPr txBox="1"/>
          <p:nvPr/>
        </p:nvSpPr>
        <p:spPr>
          <a:xfrm>
            <a:off x="389792" y="635004"/>
            <a:ext cx="2657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Challenge Two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F003D4-F3BF-66C3-4326-8A9FC608E890}"/>
              </a:ext>
            </a:extLst>
          </p:cNvPr>
          <p:cNvSpPr/>
          <p:nvPr/>
        </p:nvSpPr>
        <p:spPr>
          <a:xfrm>
            <a:off x="5321300" y="1404620"/>
            <a:ext cx="6200127" cy="52387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latin typeface="Barl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FD3AB4-9BB8-A529-4E9D-0F1D9CAAA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851" y="1564975"/>
            <a:ext cx="2923152" cy="45877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1EAEF9-E0F2-A3C4-F579-25FA8E4F2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092" y="2459492"/>
            <a:ext cx="856433" cy="547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DE0E0A-407B-270F-E542-DB88CDE661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6890" y="1911830"/>
            <a:ext cx="856433" cy="5476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FBED67-7BA6-AEA4-779F-F4B2693EA7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2629" y="2344411"/>
            <a:ext cx="856433" cy="5476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C6F7E0-A0D3-9D01-F447-449DA5097B6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83344" y="5087458"/>
            <a:ext cx="2077863" cy="10822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960A55-FC42-A3F1-1F92-B0B235C5E97F}"/>
              </a:ext>
            </a:extLst>
          </p:cNvPr>
          <p:cNvSpPr txBox="1"/>
          <p:nvPr/>
        </p:nvSpPr>
        <p:spPr>
          <a:xfrm rot="17088781">
            <a:off x="6174329" y="3871434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   )   )   )   )   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F1CB8C-A521-522A-55C2-36451557F2FD}"/>
              </a:ext>
            </a:extLst>
          </p:cNvPr>
          <p:cNvSpPr txBox="1"/>
          <p:nvPr/>
        </p:nvSpPr>
        <p:spPr>
          <a:xfrm rot="6423198">
            <a:off x="6527455" y="3871433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   )   )   )   )   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DBD664-5FDE-4DF8-2CD5-ACEAC54CEA35}"/>
              </a:ext>
            </a:extLst>
          </p:cNvPr>
          <p:cNvSpPr/>
          <p:nvPr/>
        </p:nvSpPr>
        <p:spPr>
          <a:xfrm>
            <a:off x="8470900" y="2159000"/>
            <a:ext cx="1143000" cy="102528"/>
          </a:xfrm>
          <a:custGeom>
            <a:avLst/>
            <a:gdLst>
              <a:gd name="connsiteX0" fmla="*/ 0 w 1143000"/>
              <a:gd name="connsiteY0" fmla="*/ 12700 h 102528"/>
              <a:gd name="connsiteX1" fmla="*/ 63500 w 1143000"/>
              <a:gd name="connsiteY1" fmla="*/ 0 h 102528"/>
              <a:gd name="connsiteX2" fmla="*/ 381000 w 1143000"/>
              <a:gd name="connsiteY2" fmla="*/ 12700 h 102528"/>
              <a:gd name="connsiteX3" fmla="*/ 457200 w 1143000"/>
              <a:gd name="connsiteY3" fmla="*/ 25400 h 102528"/>
              <a:gd name="connsiteX4" fmla="*/ 558800 w 1143000"/>
              <a:gd name="connsiteY4" fmla="*/ 38100 h 102528"/>
              <a:gd name="connsiteX5" fmla="*/ 723900 w 1143000"/>
              <a:gd name="connsiteY5" fmla="*/ 63500 h 102528"/>
              <a:gd name="connsiteX6" fmla="*/ 1003300 w 1143000"/>
              <a:gd name="connsiteY6" fmla="*/ 76200 h 102528"/>
              <a:gd name="connsiteX7" fmla="*/ 1066800 w 1143000"/>
              <a:gd name="connsiteY7" fmla="*/ 88900 h 102528"/>
              <a:gd name="connsiteX8" fmla="*/ 1104900 w 1143000"/>
              <a:gd name="connsiteY8" fmla="*/ 101600 h 102528"/>
              <a:gd name="connsiteX9" fmla="*/ 1143000 w 1143000"/>
              <a:gd name="connsiteY9" fmla="*/ 101600 h 10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3000" h="102528">
                <a:moveTo>
                  <a:pt x="0" y="12700"/>
                </a:moveTo>
                <a:cubicBezTo>
                  <a:pt x="21167" y="8467"/>
                  <a:pt x="41914" y="0"/>
                  <a:pt x="63500" y="0"/>
                </a:cubicBezTo>
                <a:cubicBezTo>
                  <a:pt x="169418" y="0"/>
                  <a:pt x="275302" y="5881"/>
                  <a:pt x="381000" y="12700"/>
                </a:cubicBezTo>
                <a:cubicBezTo>
                  <a:pt x="406697" y="14358"/>
                  <a:pt x="431708" y="21758"/>
                  <a:pt x="457200" y="25400"/>
                </a:cubicBezTo>
                <a:cubicBezTo>
                  <a:pt x="490987" y="30227"/>
                  <a:pt x="524933" y="33867"/>
                  <a:pt x="558800" y="38100"/>
                </a:cubicBezTo>
                <a:cubicBezTo>
                  <a:pt x="631148" y="62216"/>
                  <a:pt x="603008" y="55944"/>
                  <a:pt x="723900" y="63500"/>
                </a:cubicBezTo>
                <a:cubicBezTo>
                  <a:pt x="816948" y="69315"/>
                  <a:pt x="910167" y="71967"/>
                  <a:pt x="1003300" y="76200"/>
                </a:cubicBezTo>
                <a:cubicBezTo>
                  <a:pt x="1024467" y="80433"/>
                  <a:pt x="1045859" y="83665"/>
                  <a:pt x="1066800" y="88900"/>
                </a:cubicBezTo>
                <a:cubicBezTo>
                  <a:pt x="1079787" y="92147"/>
                  <a:pt x="1091695" y="99399"/>
                  <a:pt x="1104900" y="101600"/>
                </a:cubicBezTo>
                <a:cubicBezTo>
                  <a:pt x="1117427" y="103688"/>
                  <a:pt x="1130300" y="101600"/>
                  <a:pt x="1143000" y="101600"/>
                </a:cubicBezTo>
              </a:path>
            </a:pathLst>
          </a:custGeom>
          <a:noFill/>
          <a:ln>
            <a:solidFill>
              <a:srgbClr val="92D05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Barlow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539A23-4607-BACE-2D79-E07FD7586D8E}"/>
              </a:ext>
            </a:extLst>
          </p:cNvPr>
          <p:cNvSpPr/>
          <p:nvPr/>
        </p:nvSpPr>
        <p:spPr>
          <a:xfrm>
            <a:off x="8445500" y="2438400"/>
            <a:ext cx="1879600" cy="965209"/>
          </a:xfrm>
          <a:custGeom>
            <a:avLst/>
            <a:gdLst>
              <a:gd name="connsiteX0" fmla="*/ 0 w 1879600"/>
              <a:gd name="connsiteY0" fmla="*/ 0 h 965209"/>
              <a:gd name="connsiteX1" fmla="*/ 469900 w 1879600"/>
              <a:gd name="connsiteY1" fmla="*/ 12700 h 965209"/>
              <a:gd name="connsiteX2" fmla="*/ 711200 w 1879600"/>
              <a:gd name="connsiteY2" fmla="*/ 38100 h 965209"/>
              <a:gd name="connsiteX3" fmla="*/ 812800 w 1879600"/>
              <a:gd name="connsiteY3" fmla="*/ 50800 h 965209"/>
              <a:gd name="connsiteX4" fmla="*/ 990600 w 1879600"/>
              <a:gd name="connsiteY4" fmla="*/ 88900 h 965209"/>
              <a:gd name="connsiteX5" fmla="*/ 1041400 w 1879600"/>
              <a:gd name="connsiteY5" fmla="*/ 101600 h 965209"/>
              <a:gd name="connsiteX6" fmla="*/ 1117600 w 1879600"/>
              <a:gd name="connsiteY6" fmla="*/ 127000 h 965209"/>
              <a:gd name="connsiteX7" fmla="*/ 1193800 w 1879600"/>
              <a:gd name="connsiteY7" fmla="*/ 203200 h 965209"/>
              <a:gd name="connsiteX8" fmla="*/ 1231900 w 1879600"/>
              <a:gd name="connsiteY8" fmla="*/ 342900 h 965209"/>
              <a:gd name="connsiteX9" fmla="*/ 1257300 w 1879600"/>
              <a:gd name="connsiteY9" fmla="*/ 495300 h 965209"/>
              <a:gd name="connsiteX10" fmla="*/ 1282700 w 1879600"/>
              <a:gd name="connsiteY10" fmla="*/ 609600 h 965209"/>
              <a:gd name="connsiteX11" fmla="*/ 1346200 w 1879600"/>
              <a:gd name="connsiteY11" fmla="*/ 698500 h 965209"/>
              <a:gd name="connsiteX12" fmla="*/ 1358900 w 1879600"/>
              <a:gd name="connsiteY12" fmla="*/ 736600 h 965209"/>
              <a:gd name="connsiteX13" fmla="*/ 1397000 w 1879600"/>
              <a:gd name="connsiteY13" fmla="*/ 762000 h 965209"/>
              <a:gd name="connsiteX14" fmla="*/ 1447800 w 1879600"/>
              <a:gd name="connsiteY14" fmla="*/ 800100 h 965209"/>
              <a:gd name="connsiteX15" fmla="*/ 1536700 w 1879600"/>
              <a:gd name="connsiteY15" fmla="*/ 850900 h 965209"/>
              <a:gd name="connsiteX16" fmla="*/ 1612900 w 1879600"/>
              <a:gd name="connsiteY16" fmla="*/ 889000 h 965209"/>
              <a:gd name="connsiteX17" fmla="*/ 1651000 w 1879600"/>
              <a:gd name="connsiteY17" fmla="*/ 914400 h 965209"/>
              <a:gd name="connsiteX18" fmla="*/ 1714500 w 1879600"/>
              <a:gd name="connsiteY18" fmla="*/ 927100 h 965209"/>
              <a:gd name="connsiteX19" fmla="*/ 1752600 w 1879600"/>
              <a:gd name="connsiteY19" fmla="*/ 939800 h 965209"/>
              <a:gd name="connsiteX20" fmla="*/ 1803400 w 1879600"/>
              <a:gd name="connsiteY20" fmla="*/ 952500 h 965209"/>
              <a:gd name="connsiteX21" fmla="*/ 1879600 w 1879600"/>
              <a:gd name="connsiteY21" fmla="*/ 965200 h 965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879600" h="965209">
                <a:moveTo>
                  <a:pt x="0" y="0"/>
                </a:moveTo>
                <a:lnTo>
                  <a:pt x="469900" y="12700"/>
                </a:lnTo>
                <a:cubicBezTo>
                  <a:pt x="592816" y="17717"/>
                  <a:pt x="606667" y="24162"/>
                  <a:pt x="711200" y="38100"/>
                </a:cubicBezTo>
                <a:lnTo>
                  <a:pt x="812800" y="50800"/>
                </a:lnTo>
                <a:cubicBezTo>
                  <a:pt x="976585" y="97596"/>
                  <a:pt x="826412" y="59048"/>
                  <a:pt x="990600" y="88900"/>
                </a:cubicBezTo>
                <a:cubicBezTo>
                  <a:pt x="1007773" y="92022"/>
                  <a:pt x="1024682" y="96584"/>
                  <a:pt x="1041400" y="101600"/>
                </a:cubicBezTo>
                <a:cubicBezTo>
                  <a:pt x="1067045" y="109293"/>
                  <a:pt x="1117600" y="127000"/>
                  <a:pt x="1117600" y="127000"/>
                </a:cubicBezTo>
                <a:cubicBezTo>
                  <a:pt x="1143000" y="152400"/>
                  <a:pt x="1187895" y="167768"/>
                  <a:pt x="1193800" y="203200"/>
                </a:cubicBezTo>
                <a:cubicBezTo>
                  <a:pt x="1210248" y="301887"/>
                  <a:pt x="1196937" y="255491"/>
                  <a:pt x="1231900" y="342900"/>
                </a:cubicBezTo>
                <a:cubicBezTo>
                  <a:pt x="1256237" y="513259"/>
                  <a:pt x="1232539" y="359116"/>
                  <a:pt x="1257300" y="495300"/>
                </a:cubicBezTo>
                <a:cubicBezTo>
                  <a:pt x="1260823" y="514679"/>
                  <a:pt x="1267772" y="583476"/>
                  <a:pt x="1282700" y="609600"/>
                </a:cubicBezTo>
                <a:cubicBezTo>
                  <a:pt x="1305711" y="649869"/>
                  <a:pt x="1326544" y="659188"/>
                  <a:pt x="1346200" y="698500"/>
                </a:cubicBezTo>
                <a:cubicBezTo>
                  <a:pt x="1352187" y="710474"/>
                  <a:pt x="1350537" y="726147"/>
                  <a:pt x="1358900" y="736600"/>
                </a:cubicBezTo>
                <a:cubicBezTo>
                  <a:pt x="1368435" y="748519"/>
                  <a:pt x="1384580" y="753128"/>
                  <a:pt x="1397000" y="762000"/>
                </a:cubicBezTo>
                <a:cubicBezTo>
                  <a:pt x="1414224" y="774303"/>
                  <a:pt x="1431729" y="786325"/>
                  <a:pt x="1447800" y="800100"/>
                </a:cubicBezTo>
                <a:cubicBezTo>
                  <a:pt x="1510111" y="853509"/>
                  <a:pt x="1456941" y="830960"/>
                  <a:pt x="1536700" y="850900"/>
                </a:cubicBezTo>
                <a:cubicBezTo>
                  <a:pt x="1645889" y="923693"/>
                  <a:pt x="1507740" y="836420"/>
                  <a:pt x="1612900" y="889000"/>
                </a:cubicBezTo>
                <a:cubicBezTo>
                  <a:pt x="1626552" y="895826"/>
                  <a:pt x="1636708" y="909041"/>
                  <a:pt x="1651000" y="914400"/>
                </a:cubicBezTo>
                <a:cubicBezTo>
                  <a:pt x="1671211" y="921979"/>
                  <a:pt x="1693559" y="921865"/>
                  <a:pt x="1714500" y="927100"/>
                </a:cubicBezTo>
                <a:cubicBezTo>
                  <a:pt x="1727487" y="930347"/>
                  <a:pt x="1739728" y="936122"/>
                  <a:pt x="1752600" y="939800"/>
                </a:cubicBezTo>
                <a:cubicBezTo>
                  <a:pt x="1769383" y="944595"/>
                  <a:pt x="1786361" y="948714"/>
                  <a:pt x="1803400" y="952500"/>
                </a:cubicBezTo>
                <a:cubicBezTo>
                  <a:pt x="1864286" y="966030"/>
                  <a:pt x="1846641" y="965200"/>
                  <a:pt x="1879600" y="965200"/>
                </a:cubicBezTo>
              </a:path>
            </a:pathLst>
          </a:custGeom>
          <a:noFill/>
          <a:ln>
            <a:solidFill>
              <a:srgbClr val="92D05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Barlow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36EB51D-C4FD-DB01-C608-3B3C42F33824}"/>
              </a:ext>
            </a:extLst>
          </p:cNvPr>
          <p:cNvSpPr/>
          <p:nvPr/>
        </p:nvSpPr>
        <p:spPr>
          <a:xfrm>
            <a:off x="8432800" y="2667000"/>
            <a:ext cx="2298700" cy="2700173"/>
          </a:xfrm>
          <a:custGeom>
            <a:avLst/>
            <a:gdLst>
              <a:gd name="connsiteX0" fmla="*/ 0 w 2298700"/>
              <a:gd name="connsiteY0" fmla="*/ 0 h 2700173"/>
              <a:gd name="connsiteX1" fmla="*/ 266700 w 2298700"/>
              <a:gd name="connsiteY1" fmla="*/ 25400 h 2700173"/>
              <a:gd name="connsiteX2" fmla="*/ 342900 w 2298700"/>
              <a:gd name="connsiteY2" fmla="*/ 38100 h 2700173"/>
              <a:gd name="connsiteX3" fmla="*/ 444500 w 2298700"/>
              <a:gd name="connsiteY3" fmla="*/ 50800 h 2700173"/>
              <a:gd name="connsiteX4" fmla="*/ 520700 w 2298700"/>
              <a:gd name="connsiteY4" fmla="*/ 63500 h 2700173"/>
              <a:gd name="connsiteX5" fmla="*/ 647700 w 2298700"/>
              <a:gd name="connsiteY5" fmla="*/ 88900 h 2700173"/>
              <a:gd name="connsiteX6" fmla="*/ 723900 w 2298700"/>
              <a:gd name="connsiteY6" fmla="*/ 165100 h 2700173"/>
              <a:gd name="connsiteX7" fmla="*/ 698500 w 2298700"/>
              <a:gd name="connsiteY7" fmla="*/ 469900 h 2700173"/>
              <a:gd name="connsiteX8" fmla="*/ 723900 w 2298700"/>
              <a:gd name="connsiteY8" fmla="*/ 571500 h 2700173"/>
              <a:gd name="connsiteX9" fmla="*/ 749300 w 2298700"/>
              <a:gd name="connsiteY9" fmla="*/ 965200 h 2700173"/>
              <a:gd name="connsiteX10" fmla="*/ 762000 w 2298700"/>
              <a:gd name="connsiteY10" fmla="*/ 1130300 h 2700173"/>
              <a:gd name="connsiteX11" fmla="*/ 736600 w 2298700"/>
              <a:gd name="connsiteY11" fmla="*/ 1676400 h 2700173"/>
              <a:gd name="connsiteX12" fmla="*/ 749300 w 2298700"/>
              <a:gd name="connsiteY12" fmla="*/ 1803400 h 2700173"/>
              <a:gd name="connsiteX13" fmla="*/ 774700 w 2298700"/>
              <a:gd name="connsiteY13" fmla="*/ 2349500 h 2700173"/>
              <a:gd name="connsiteX14" fmla="*/ 800100 w 2298700"/>
              <a:gd name="connsiteY14" fmla="*/ 2425700 h 2700173"/>
              <a:gd name="connsiteX15" fmla="*/ 850900 w 2298700"/>
              <a:gd name="connsiteY15" fmla="*/ 2540000 h 2700173"/>
              <a:gd name="connsiteX16" fmla="*/ 901700 w 2298700"/>
              <a:gd name="connsiteY16" fmla="*/ 2578100 h 2700173"/>
              <a:gd name="connsiteX17" fmla="*/ 952500 w 2298700"/>
              <a:gd name="connsiteY17" fmla="*/ 2590800 h 2700173"/>
              <a:gd name="connsiteX18" fmla="*/ 1003300 w 2298700"/>
              <a:gd name="connsiteY18" fmla="*/ 2616200 h 2700173"/>
              <a:gd name="connsiteX19" fmla="*/ 1054100 w 2298700"/>
              <a:gd name="connsiteY19" fmla="*/ 2628900 h 2700173"/>
              <a:gd name="connsiteX20" fmla="*/ 1270000 w 2298700"/>
              <a:gd name="connsiteY20" fmla="*/ 2667000 h 2700173"/>
              <a:gd name="connsiteX21" fmla="*/ 1689100 w 2298700"/>
              <a:gd name="connsiteY21" fmla="*/ 2667000 h 2700173"/>
              <a:gd name="connsiteX22" fmla="*/ 1778000 w 2298700"/>
              <a:gd name="connsiteY22" fmla="*/ 2590800 h 2700173"/>
              <a:gd name="connsiteX23" fmla="*/ 1790700 w 2298700"/>
              <a:gd name="connsiteY23" fmla="*/ 2552700 h 2700173"/>
              <a:gd name="connsiteX24" fmla="*/ 1816100 w 2298700"/>
              <a:gd name="connsiteY24" fmla="*/ 2451100 h 2700173"/>
              <a:gd name="connsiteX25" fmla="*/ 1828800 w 2298700"/>
              <a:gd name="connsiteY25" fmla="*/ 2413000 h 2700173"/>
              <a:gd name="connsiteX26" fmla="*/ 1854200 w 2298700"/>
              <a:gd name="connsiteY26" fmla="*/ 2374900 h 2700173"/>
              <a:gd name="connsiteX27" fmla="*/ 1866900 w 2298700"/>
              <a:gd name="connsiteY27" fmla="*/ 2311400 h 2700173"/>
              <a:gd name="connsiteX28" fmla="*/ 1981200 w 2298700"/>
              <a:gd name="connsiteY28" fmla="*/ 2247900 h 2700173"/>
              <a:gd name="connsiteX29" fmla="*/ 2298700 w 2298700"/>
              <a:gd name="connsiteY29" fmla="*/ 2235200 h 270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298700" h="2700173">
                <a:moveTo>
                  <a:pt x="0" y="0"/>
                </a:moveTo>
                <a:cubicBezTo>
                  <a:pt x="148663" y="29733"/>
                  <a:pt x="-16571" y="-352"/>
                  <a:pt x="266700" y="25400"/>
                </a:cubicBezTo>
                <a:cubicBezTo>
                  <a:pt x="292345" y="27731"/>
                  <a:pt x="317408" y="34458"/>
                  <a:pt x="342900" y="38100"/>
                </a:cubicBezTo>
                <a:cubicBezTo>
                  <a:pt x="376687" y="42927"/>
                  <a:pt x="410713" y="45973"/>
                  <a:pt x="444500" y="50800"/>
                </a:cubicBezTo>
                <a:cubicBezTo>
                  <a:pt x="469992" y="54442"/>
                  <a:pt x="495391" y="58755"/>
                  <a:pt x="520700" y="63500"/>
                </a:cubicBezTo>
                <a:cubicBezTo>
                  <a:pt x="563132" y="71456"/>
                  <a:pt x="647700" y="88900"/>
                  <a:pt x="647700" y="88900"/>
                </a:cubicBezTo>
                <a:cubicBezTo>
                  <a:pt x="660941" y="98831"/>
                  <a:pt x="722648" y="136305"/>
                  <a:pt x="723900" y="165100"/>
                </a:cubicBezTo>
                <a:cubicBezTo>
                  <a:pt x="731942" y="350076"/>
                  <a:pt x="727310" y="354660"/>
                  <a:pt x="698500" y="469900"/>
                </a:cubicBezTo>
                <a:cubicBezTo>
                  <a:pt x="706967" y="503767"/>
                  <a:pt x="722505" y="536619"/>
                  <a:pt x="723900" y="571500"/>
                </a:cubicBezTo>
                <a:cubicBezTo>
                  <a:pt x="737629" y="914730"/>
                  <a:pt x="719187" y="784523"/>
                  <a:pt x="749300" y="965200"/>
                </a:cubicBezTo>
                <a:cubicBezTo>
                  <a:pt x="753533" y="1020233"/>
                  <a:pt x="762000" y="1075104"/>
                  <a:pt x="762000" y="1130300"/>
                </a:cubicBezTo>
                <a:cubicBezTo>
                  <a:pt x="762000" y="1522704"/>
                  <a:pt x="768204" y="1455171"/>
                  <a:pt x="736600" y="1676400"/>
                </a:cubicBezTo>
                <a:cubicBezTo>
                  <a:pt x="740833" y="1718733"/>
                  <a:pt x="747565" y="1760891"/>
                  <a:pt x="749300" y="1803400"/>
                </a:cubicBezTo>
                <a:cubicBezTo>
                  <a:pt x="755732" y="1960980"/>
                  <a:pt x="722654" y="2176013"/>
                  <a:pt x="774700" y="2349500"/>
                </a:cubicBezTo>
                <a:cubicBezTo>
                  <a:pt x="782393" y="2375145"/>
                  <a:pt x="790950" y="2400538"/>
                  <a:pt x="800100" y="2425700"/>
                </a:cubicBezTo>
                <a:cubicBezTo>
                  <a:pt x="804851" y="2438766"/>
                  <a:pt x="838292" y="2525290"/>
                  <a:pt x="850900" y="2540000"/>
                </a:cubicBezTo>
                <a:cubicBezTo>
                  <a:pt x="864675" y="2556071"/>
                  <a:pt x="882768" y="2568634"/>
                  <a:pt x="901700" y="2578100"/>
                </a:cubicBezTo>
                <a:cubicBezTo>
                  <a:pt x="917312" y="2585906"/>
                  <a:pt x="936157" y="2584671"/>
                  <a:pt x="952500" y="2590800"/>
                </a:cubicBezTo>
                <a:cubicBezTo>
                  <a:pt x="970227" y="2597447"/>
                  <a:pt x="985573" y="2609553"/>
                  <a:pt x="1003300" y="2616200"/>
                </a:cubicBezTo>
                <a:cubicBezTo>
                  <a:pt x="1019643" y="2622329"/>
                  <a:pt x="1037033" y="2625243"/>
                  <a:pt x="1054100" y="2628900"/>
                </a:cubicBezTo>
                <a:cubicBezTo>
                  <a:pt x="1179182" y="2655703"/>
                  <a:pt x="1160044" y="2651292"/>
                  <a:pt x="1270000" y="2667000"/>
                </a:cubicBezTo>
                <a:cubicBezTo>
                  <a:pt x="1420882" y="2717294"/>
                  <a:pt x="1368452" y="2704723"/>
                  <a:pt x="1689100" y="2667000"/>
                </a:cubicBezTo>
                <a:cubicBezTo>
                  <a:pt x="1707564" y="2664828"/>
                  <a:pt x="1764563" y="2604237"/>
                  <a:pt x="1778000" y="2590800"/>
                </a:cubicBezTo>
                <a:cubicBezTo>
                  <a:pt x="1782233" y="2578100"/>
                  <a:pt x="1787178" y="2565615"/>
                  <a:pt x="1790700" y="2552700"/>
                </a:cubicBezTo>
                <a:cubicBezTo>
                  <a:pt x="1799885" y="2519021"/>
                  <a:pt x="1805061" y="2484218"/>
                  <a:pt x="1816100" y="2451100"/>
                </a:cubicBezTo>
                <a:cubicBezTo>
                  <a:pt x="1820333" y="2438400"/>
                  <a:pt x="1822813" y="2424974"/>
                  <a:pt x="1828800" y="2413000"/>
                </a:cubicBezTo>
                <a:cubicBezTo>
                  <a:pt x="1835626" y="2399348"/>
                  <a:pt x="1845733" y="2387600"/>
                  <a:pt x="1854200" y="2374900"/>
                </a:cubicBezTo>
                <a:cubicBezTo>
                  <a:pt x="1858433" y="2353733"/>
                  <a:pt x="1856417" y="2330269"/>
                  <a:pt x="1866900" y="2311400"/>
                </a:cubicBezTo>
                <a:cubicBezTo>
                  <a:pt x="1897743" y="2255882"/>
                  <a:pt x="1925965" y="2255791"/>
                  <a:pt x="1981200" y="2247900"/>
                </a:cubicBezTo>
                <a:cubicBezTo>
                  <a:pt x="2122459" y="2227720"/>
                  <a:pt x="2128477" y="2235200"/>
                  <a:pt x="2298700" y="2235200"/>
                </a:cubicBezTo>
              </a:path>
            </a:pathLst>
          </a:custGeom>
          <a:noFill/>
          <a:ln>
            <a:solidFill>
              <a:srgbClr val="92D05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Barlow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4493CA-CAD3-0B17-4B87-6E09279ED91A}"/>
              </a:ext>
            </a:extLst>
          </p:cNvPr>
          <p:cNvSpPr txBox="1"/>
          <p:nvPr/>
        </p:nvSpPr>
        <p:spPr>
          <a:xfrm>
            <a:off x="9283521" y="1775528"/>
            <a:ext cx="580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>
                <a:solidFill>
                  <a:srgbClr val="92D050"/>
                </a:solidFill>
                <a:latin typeface="Barlow"/>
              </a:rPr>
              <a:t>Land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A114DF-6ABC-BDA7-93F3-B9298E346286}"/>
              </a:ext>
            </a:extLst>
          </p:cNvPr>
          <p:cNvSpPr txBox="1"/>
          <p:nvPr/>
        </p:nvSpPr>
        <p:spPr>
          <a:xfrm>
            <a:off x="10224993" y="3143554"/>
            <a:ext cx="580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>
                <a:solidFill>
                  <a:srgbClr val="92D050"/>
                </a:solidFill>
                <a:latin typeface="Barlow"/>
              </a:rPr>
              <a:t>Land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C8B4D4-7E94-721E-BA9C-C9AAD5AB0295}"/>
              </a:ext>
            </a:extLst>
          </p:cNvPr>
          <p:cNvSpPr txBox="1"/>
          <p:nvPr/>
        </p:nvSpPr>
        <p:spPr>
          <a:xfrm>
            <a:off x="10123199" y="4600405"/>
            <a:ext cx="580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>
                <a:solidFill>
                  <a:srgbClr val="92D050"/>
                </a:solidFill>
                <a:latin typeface="Barlow"/>
              </a:rPr>
              <a:t>Land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F420B8-D678-BB87-22A1-C3E72A0BD7D0}"/>
              </a:ext>
            </a:extLst>
          </p:cNvPr>
          <p:cNvSpPr/>
          <p:nvPr/>
        </p:nvSpPr>
        <p:spPr>
          <a:xfrm>
            <a:off x="9092556" y="6270400"/>
            <a:ext cx="63500" cy="50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Barlow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6A842C-4232-B005-77BD-1EA9D8D8758E}"/>
              </a:ext>
            </a:extLst>
          </p:cNvPr>
          <p:cNvSpPr txBox="1"/>
          <p:nvPr/>
        </p:nvSpPr>
        <p:spPr>
          <a:xfrm>
            <a:off x="9130445" y="6165153"/>
            <a:ext cx="16172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  <a:latin typeface="Barlow"/>
              </a:rPr>
              <a:t>Invalid Landing Zones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EA6018-951A-B12D-3A36-5990962607A1}"/>
              </a:ext>
            </a:extLst>
          </p:cNvPr>
          <p:cNvSpPr/>
          <p:nvPr/>
        </p:nvSpPr>
        <p:spPr>
          <a:xfrm>
            <a:off x="9089381" y="6469247"/>
            <a:ext cx="63500" cy="50800"/>
          </a:xfrm>
          <a:prstGeom prst="rect">
            <a:avLst/>
          </a:prstGeom>
          <a:solidFill>
            <a:srgbClr val="B5E61D"/>
          </a:solidFill>
          <a:ln>
            <a:solidFill>
              <a:srgbClr val="B5E6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Barlow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75AD7A-1E48-0FCF-610C-C5D64C097354}"/>
              </a:ext>
            </a:extLst>
          </p:cNvPr>
          <p:cNvSpPr txBox="1"/>
          <p:nvPr/>
        </p:nvSpPr>
        <p:spPr>
          <a:xfrm>
            <a:off x="9135244" y="6361424"/>
            <a:ext cx="16172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  <a:latin typeface="Barlow"/>
              </a:rPr>
              <a:t>Valid Landing Zones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84F440-71A3-8CE0-9FA6-C46346D95A38}"/>
              </a:ext>
            </a:extLst>
          </p:cNvPr>
          <p:cNvSpPr txBox="1"/>
          <p:nvPr/>
        </p:nvSpPr>
        <p:spPr>
          <a:xfrm>
            <a:off x="5412993" y="2112638"/>
            <a:ext cx="1789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200" dirty="0">
                <a:solidFill>
                  <a:schemeClr val="bg1"/>
                </a:solidFill>
                <a:latin typeface="Barlow"/>
              </a:rPr>
              <a:t>3 x </a:t>
            </a:r>
            <a:r>
              <a:rPr lang="en-SG" sz="1200" dirty="0" err="1">
                <a:solidFill>
                  <a:schemeClr val="bg1"/>
                </a:solidFill>
                <a:latin typeface="Barlow"/>
              </a:rPr>
              <a:t>Highgreat</a:t>
            </a:r>
            <a:r>
              <a:rPr lang="en-SG" sz="1200" dirty="0">
                <a:solidFill>
                  <a:schemeClr val="bg1"/>
                </a:solidFill>
                <a:latin typeface="Barlow"/>
              </a:rPr>
              <a:t> HULA Drones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C8863-9938-D14F-0D47-8B9396A9A614}"/>
              </a:ext>
            </a:extLst>
          </p:cNvPr>
          <p:cNvSpPr txBox="1"/>
          <p:nvPr/>
        </p:nvSpPr>
        <p:spPr>
          <a:xfrm>
            <a:off x="6176045" y="5996827"/>
            <a:ext cx="1435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>
                <a:solidFill>
                  <a:schemeClr val="bg1"/>
                </a:solidFill>
                <a:latin typeface="Barlow"/>
              </a:rPr>
              <a:t>Participants’ C2 Terminal</a:t>
            </a:r>
            <a:endParaRPr lang="en-SG" sz="1400" b="1" dirty="0">
              <a:latin typeface="Barlow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CD963C-3D72-47FB-929E-26619BE679AE}"/>
              </a:ext>
            </a:extLst>
          </p:cNvPr>
          <p:cNvSpPr txBox="1"/>
          <p:nvPr/>
        </p:nvSpPr>
        <p:spPr>
          <a:xfrm>
            <a:off x="9303014" y="595504"/>
            <a:ext cx="240835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sz="2400" dirty="0">
                <a:latin typeface="Barlow"/>
              </a:rPr>
              <a:t>Maximum: 8mins</a:t>
            </a:r>
          </a:p>
        </p:txBody>
      </p:sp>
    </p:spTree>
    <p:extLst>
      <p:ext uri="{BB962C8B-B14F-4D97-AF65-F5344CB8AC3E}">
        <p14:creationId xmlns:p14="http://schemas.microsoft.com/office/powerpoint/2010/main" val="385339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C0462E9-B528-12D4-DBCE-F622B2F699E0}"/>
              </a:ext>
            </a:extLst>
          </p:cNvPr>
          <p:cNvSpPr/>
          <p:nvPr/>
        </p:nvSpPr>
        <p:spPr>
          <a:xfrm>
            <a:off x="5466935" y="1440076"/>
            <a:ext cx="6403780" cy="48850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latin typeface="Barlow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866C63D-096E-CD6E-8E43-4708886BC273}"/>
              </a:ext>
            </a:extLst>
          </p:cNvPr>
          <p:cNvGrpSpPr/>
          <p:nvPr/>
        </p:nvGrpSpPr>
        <p:grpSpPr>
          <a:xfrm>
            <a:off x="5466935" y="1617915"/>
            <a:ext cx="4880268" cy="4360386"/>
            <a:chOff x="5986332" y="1570992"/>
            <a:chExt cx="4880268" cy="43603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2D13881-7B2F-014A-4C86-7F0ADD69C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5000"/>
            </a:blip>
            <a:stretch>
              <a:fillRect/>
            </a:stretch>
          </p:blipFill>
          <p:spPr>
            <a:xfrm>
              <a:off x="8088302" y="1570992"/>
              <a:ext cx="2778298" cy="4360386"/>
            </a:xfrm>
            <a:prstGeom prst="rect">
              <a:avLst/>
            </a:prstGeom>
            <a:ln>
              <a:solidFill>
                <a:srgbClr val="FFFF00"/>
              </a:solidFill>
              <a:prstDash val="dash"/>
            </a:ln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C3446EC-AD83-9AB1-61E3-97D8F0A329A5}"/>
                </a:ext>
              </a:extLst>
            </p:cNvPr>
            <p:cNvGrpSpPr/>
            <p:nvPr/>
          </p:nvGrpSpPr>
          <p:grpSpPr>
            <a:xfrm>
              <a:off x="5986332" y="4688402"/>
              <a:ext cx="1916689" cy="1230235"/>
              <a:chOff x="4625382" y="3804276"/>
              <a:chExt cx="1916689" cy="1230235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0BF80DA8-6D1F-11AE-FD00-1618D633BD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5382" y="3804276"/>
                <a:ext cx="1088553" cy="625741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3D76D8AF-AB0B-B0D4-D39D-545562652C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44205" y="4107900"/>
                <a:ext cx="1088553" cy="625741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34FE9643-9D58-C614-50C3-5FA8DE1371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5382" y="4408770"/>
                <a:ext cx="1088553" cy="625741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1A54D389-E558-98C5-A5D4-737E5CA8B6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53518" y="4408770"/>
                <a:ext cx="1088553" cy="625741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12F873C-7DC0-167A-F2AB-28AFAFC719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53518" y="3804276"/>
                <a:ext cx="1088553" cy="625741"/>
              </a:xfrm>
              <a:prstGeom prst="rect">
                <a:avLst/>
              </a:prstGeom>
            </p:spPr>
          </p:pic>
        </p:grp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0DAE6A0C-AE39-FF04-C71A-5B58439FF5D5}"/>
                </a:ext>
              </a:extLst>
            </p:cNvPr>
            <p:cNvSpPr/>
            <p:nvPr/>
          </p:nvSpPr>
          <p:spPr>
            <a:xfrm>
              <a:off x="7556871" y="5034496"/>
              <a:ext cx="858378" cy="5847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b="1" dirty="0">
                  <a:latin typeface="Barlow"/>
                </a:rPr>
                <a:t>Enter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B600FDF-3B84-7A39-2D66-C779C047F43B}"/>
                </a:ext>
              </a:extLst>
            </p:cNvPr>
            <p:cNvSpPr/>
            <p:nvPr/>
          </p:nvSpPr>
          <p:spPr>
            <a:xfrm>
              <a:off x="8441334" y="1794126"/>
              <a:ext cx="1600441" cy="3509394"/>
            </a:xfrm>
            <a:custGeom>
              <a:avLst/>
              <a:gdLst>
                <a:gd name="connsiteX0" fmla="*/ 45961 w 1600441"/>
                <a:gd name="connsiteY0" fmla="*/ 3509394 h 3509394"/>
                <a:gd name="connsiteX1" fmla="*/ 54273 w 1600441"/>
                <a:gd name="connsiteY1" fmla="*/ 3401329 h 3509394"/>
                <a:gd name="connsiteX2" fmla="*/ 70899 w 1600441"/>
                <a:gd name="connsiteY2" fmla="*/ 3359765 h 3509394"/>
                <a:gd name="connsiteX3" fmla="*/ 54273 w 1600441"/>
                <a:gd name="connsiteY3" fmla="*/ 3135321 h 3509394"/>
                <a:gd name="connsiteX4" fmla="*/ 45961 w 1600441"/>
                <a:gd name="connsiteY4" fmla="*/ 3052194 h 3509394"/>
                <a:gd name="connsiteX5" fmla="*/ 37648 w 1600441"/>
                <a:gd name="connsiteY5" fmla="*/ 2944129 h 3509394"/>
                <a:gd name="connsiteX6" fmla="*/ 21022 w 1600441"/>
                <a:gd name="connsiteY6" fmla="*/ 2869314 h 3509394"/>
                <a:gd name="connsiteX7" fmla="*/ 4397 w 1600441"/>
                <a:gd name="connsiteY7" fmla="*/ 2578369 h 3509394"/>
                <a:gd name="connsiteX8" fmla="*/ 37648 w 1600441"/>
                <a:gd name="connsiteY8" fmla="*/ 2345612 h 3509394"/>
                <a:gd name="connsiteX9" fmla="*/ 62586 w 1600441"/>
                <a:gd name="connsiteY9" fmla="*/ 2320674 h 3509394"/>
                <a:gd name="connsiteX10" fmla="*/ 203902 w 1600441"/>
                <a:gd name="connsiteY10" fmla="*/ 2287423 h 3509394"/>
                <a:gd name="connsiteX11" fmla="*/ 253779 w 1600441"/>
                <a:gd name="connsiteY11" fmla="*/ 2270798 h 3509394"/>
                <a:gd name="connsiteX12" fmla="*/ 519786 w 1600441"/>
                <a:gd name="connsiteY12" fmla="*/ 2279110 h 3509394"/>
                <a:gd name="connsiteX13" fmla="*/ 619539 w 1600441"/>
                <a:gd name="connsiteY13" fmla="*/ 2337299 h 3509394"/>
                <a:gd name="connsiteX14" fmla="*/ 669415 w 1600441"/>
                <a:gd name="connsiteY14" fmla="*/ 2362238 h 3509394"/>
                <a:gd name="connsiteX15" fmla="*/ 702666 w 1600441"/>
                <a:gd name="connsiteY15" fmla="*/ 2395489 h 3509394"/>
                <a:gd name="connsiteX16" fmla="*/ 735917 w 1600441"/>
                <a:gd name="connsiteY16" fmla="*/ 2420427 h 3509394"/>
                <a:gd name="connsiteX17" fmla="*/ 744230 w 1600441"/>
                <a:gd name="connsiteY17" fmla="*/ 2445365 h 3509394"/>
                <a:gd name="connsiteX18" fmla="*/ 885546 w 1600441"/>
                <a:gd name="connsiteY18" fmla="*/ 2495241 h 3509394"/>
                <a:gd name="connsiteX19" fmla="*/ 952048 w 1600441"/>
                <a:gd name="connsiteY19" fmla="*/ 2503554 h 3509394"/>
                <a:gd name="connsiteX20" fmla="*/ 1101677 w 1600441"/>
                <a:gd name="connsiteY20" fmla="*/ 2470303 h 3509394"/>
                <a:gd name="connsiteX21" fmla="*/ 1143241 w 1600441"/>
                <a:gd name="connsiteY21" fmla="*/ 2437052 h 3509394"/>
                <a:gd name="connsiteX22" fmla="*/ 1184804 w 1600441"/>
                <a:gd name="connsiteY22" fmla="*/ 2395489 h 3509394"/>
                <a:gd name="connsiteX23" fmla="*/ 1226368 w 1600441"/>
                <a:gd name="connsiteY23" fmla="*/ 2387176 h 3509394"/>
                <a:gd name="connsiteX24" fmla="*/ 1301182 w 1600441"/>
                <a:gd name="connsiteY24" fmla="*/ 2312361 h 3509394"/>
                <a:gd name="connsiteX25" fmla="*/ 1342746 w 1600441"/>
                <a:gd name="connsiteY25" fmla="*/ 2270798 h 3509394"/>
                <a:gd name="connsiteX26" fmla="*/ 1375997 w 1600441"/>
                <a:gd name="connsiteY26" fmla="*/ 2254172 h 3509394"/>
                <a:gd name="connsiteX27" fmla="*/ 1409248 w 1600441"/>
                <a:gd name="connsiteY27" fmla="*/ 2229234 h 3509394"/>
                <a:gd name="connsiteX28" fmla="*/ 1434186 w 1600441"/>
                <a:gd name="connsiteY28" fmla="*/ 2212609 h 3509394"/>
                <a:gd name="connsiteX29" fmla="*/ 1459124 w 1600441"/>
                <a:gd name="connsiteY29" fmla="*/ 2179358 h 3509394"/>
                <a:gd name="connsiteX30" fmla="*/ 1542251 w 1600441"/>
                <a:gd name="connsiteY30" fmla="*/ 2129481 h 3509394"/>
                <a:gd name="connsiteX31" fmla="*/ 1600441 w 1600441"/>
                <a:gd name="connsiteY31" fmla="*/ 2087918 h 3509394"/>
                <a:gd name="connsiteX32" fmla="*/ 1558877 w 1600441"/>
                <a:gd name="connsiteY32" fmla="*/ 1971539 h 3509394"/>
                <a:gd name="connsiteX33" fmla="*/ 1542251 w 1600441"/>
                <a:gd name="connsiteY33" fmla="*/ 1863474 h 3509394"/>
                <a:gd name="connsiteX34" fmla="*/ 1533939 w 1600441"/>
                <a:gd name="connsiteY34" fmla="*/ 1788659 h 3509394"/>
                <a:gd name="connsiteX35" fmla="*/ 1525626 w 1600441"/>
                <a:gd name="connsiteY35" fmla="*/ 1755409 h 3509394"/>
                <a:gd name="connsiteX36" fmla="*/ 1509001 w 1600441"/>
                <a:gd name="connsiteY36" fmla="*/ 1622405 h 3509394"/>
                <a:gd name="connsiteX37" fmla="*/ 1467437 w 1600441"/>
                <a:gd name="connsiteY37" fmla="*/ 1522652 h 3509394"/>
                <a:gd name="connsiteX38" fmla="*/ 1442499 w 1600441"/>
                <a:gd name="connsiteY38" fmla="*/ 1497714 h 3509394"/>
                <a:gd name="connsiteX39" fmla="*/ 1309495 w 1600441"/>
                <a:gd name="connsiteY39" fmla="*/ 1414587 h 3509394"/>
                <a:gd name="connsiteX40" fmla="*/ 1159866 w 1600441"/>
                <a:gd name="connsiteY40" fmla="*/ 1364710 h 3509394"/>
                <a:gd name="connsiteX41" fmla="*/ 927110 w 1600441"/>
                <a:gd name="connsiteY41" fmla="*/ 1314834 h 3509394"/>
                <a:gd name="connsiteX42" fmla="*/ 819044 w 1600441"/>
                <a:gd name="connsiteY42" fmla="*/ 1298209 h 3509394"/>
                <a:gd name="connsiteX43" fmla="*/ 727604 w 1600441"/>
                <a:gd name="connsiteY43" fmla="*/ 1273270 h 3509394"/>
                <a:gd name="connsiteX44" fmla="*/ 444971 w 1600441"/>
                <a:gd name="connsiteY44" fmla="*/ 1148579 h 3509394"/>
                <a:gd name="connsiteX45" fmla="*/ 378470 w 1600441"/>
                <a:gd name="connsiteY45" fmla="*/ 1082078 h 3509394"/>
                <a:gd name="connsiteX46" fmla="*/ 287030 w 1600441"/>
                <a:gd name="connsiteY46" fmla="*/ 998950 h 3509394"/>
                <a:gd name="connsiteX47" fmla="*/ 262091 w 1600441"/>
                <a:gd name="connsiteY47" fmla="*/ 924136 h 3509394"/>
                <a:gd name="connsiteX48" fmla="*/ 228841 w 1600441"/>
                <a:gd name="connsiteY48" fmla="*/ 558376 h 3509394"/>
                <a:gd name="connsiteX49" fmla="*/ 245466 w 1600441"/>
                <a:gd name="connsiteY49" fmla="*/ 250805 h 3509394"/>
                <a:gd name="connsiteX50" fmla="*/ 320281 w 1600441"/>
                <a:gd name="connsiteY50" fmla="*/ 92863 h 3509394"/>
                <a:gd name="connsiteX51" fmla="*/ 345219 w 1600441"/>
                <a:gd name="connsiteY51" fmla="*/ 34674 h 3509394"/>
                <a:gd name="connsiteX52" fmla="*/ 710979 w 1600441"/>
                <a:gd name="connsiteY52" fmla="*/ 1423 h 350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600441" h="3509394">
                  <a:moveTo>
                    <a:pt x="45961" y="3509394"/>
                  </a:moveTo>
                  <a:cubicBezTo>
                    <a:pt x="48732" y="3473372"/>
                    <a:pt x="48334" y="3436966"/>
                    <a:pt x="54273" y="3401329"/>
                  </a:cubicBezTo>
                  <a:cubicBezTo>
                    <a:pt x="56726" y="3386610"/>
                    <a:pt x="70899" y="3374687"/>
                    <a:pt x="70899" y="3359765"/>
                  </a:cubicBezTo>
                  <a:cubicBezTo>
                    <a:pt x="70899" y="3284745"/>
                    <a:pt x="60336" y="3210095"/>
                    <a:pt x="54273" y="3135321"/>
                  </a:cubicBezTo>
                  <a:cubicBezTo>
                    <a:pt x="52023" y="3107565"/>
                    <a:pt x="48373" y="3079936"/>
                    <a:pt x="45961" y="3052194"/>
                  </a:cubicBezTo>
                  <a:cubicBezTo>
                    <a:pt x="42831" y="3016202"/>
                    <a:pt x="42530" y="2979926"/>
                    <a:pt x="37648" y="2944129"/>
                  </a:cubicBezTo>
                  <a:cubicBezTo>
                    <a:pt x="34196" y="2918817"/>
                    <a:pt x="26564" y="2894252"/>
                    <a:pt x="21022" y="2869314"/>
                  </a:cubicBezTo>
                  <a:cubicBezTo>
                    <a:pt x="12519" y="2767271"/>
                    <a:pt x="4397" y="2685736"/>
                    <a:pt x="4397" y="2578369"/>
                  </a:cubicBezTo>
                  <a:cubicBezTo>
                    <a:pt x="4397" y="2459070"/>
                    <a:pt x="-17827" y="2419579"/>
                    <a:pt x="37648" y="2345612"/>
                  </a:cubicBezTo>
                  <a:cubicBezTo>
                    <a:pt x="44701" y="2336207"/>
                    <a:pt x="52071" y="2325931"/>
                    <a:pt x="62586" y="2320674"/>
                  </a:cubicBezTo>
                  <a:cubicBezTo>
                    <a:pt x="115923" y="2294006"/>
                    <a:pt x="147580" y="2294464"/>
                    <a:pt x="203902" y="2287423"/>
                  </a:cubicBezTo>
                  <a:cubicBezTo>
                    <a:pt x="220528" y="2281881"/>
                    <a:pt x="236260" y="2271259"/>
                    <a:pt x="253779" y="2270798"/>
                  </a:cubicBezTo>
                  <a:cubicBezTo>
                    <a:pt x="342461" y="2268464"/>
                    <a:pt x="431561" y="2269823"/>
                    <a:pt x="519786" y="2279110"/>
                  </a:cubicBezTo>
                  <a:cubicBezTo>
                    <a:pt x="542185" y="2281468"/>
                    <a:pt x="602944" y="2327619"/>
                    <a:pt x="619539" y="2337299"/>
                  </a:cubicBezTo>
                  <a:cubicBezTo>
                    <a:pt x="635595" y="2346665"/>
                    <a:pt x="654187" y="2351578"/>
                    <a:pt x="669415" y="2362238"/>
                  </a:cubicBezTo>
                  <a:cubicBezTo>
                    <a:pt x="682256" y="2371227"/>
                    <a:pt x="690870" y="2385167"/>
                    <a:pt x="702666" y="2395489"/>
                  </a:cubicBezTo>
                  <a:cubicBezTo>
                    <a:pt x="713093" y="2404612"/>
                    <a:pt x="724833" y="2412114"/>
                    <a:pt x="735917" y="2420427"/>
                  </a:cubicBezTo>
                  <a:cubicBezTo>
                    <a:pt x="738688" y="2428740"/>
                    <a:pt x="737636" y="2439595"/>
                    <a:pt x="744230" y="2445365"/>
                  </a:cubicBezTo>
                  <a:cubicBezTo>
                    <a:pt x="787594" y="2483308"/>
                    <a:pt x="830299" y="2486033"/>
                    <a:pt x="885546" y="2495241"/>
                  </a:cubicBezTo>
                  <a:cubicBezTo>
                    <a:pt x="907582" y="2498914"/>
                    <a:pt x="929881" y="2500783"/>
                    <a:pt x="952048" y="2503554"/>
                  </a:cubicBezTo>
                  <a:cubicBezTo>
                    <a:pt x="1025157" y="2496907"/>
                    <a:pt x="1042486" y="2504831"/>
                    <a:pt x="1101677" y="2470303"/>
                  </a:cubicBezTo>
                  <a:cubicBezTo>
                    <a:pt x="1117003" y="2461363"/>
                    <a:pt x="1130053" y="2448921"/>
                    <a:pt x="1143241" y="2437052"/>
                  </a:cubicBezTo>
                  <a:cubicBezTo>
                    <a:pt x="1157804" y="2423945"/>
                    <a:pt x="1168003" y="2405569"/>
                    <a:pt x="1184804" y="2395489"/>
                  </a:cubicBezTo>
                  <a:cubicBezTo>
                    <a:pt x="1196920" y="2388220"/>
                    <a:pt x="1212513" y="2389947"/>
                    <a:pt x="1226368" y="2387176"/>
                  </a:cubicBezTo>
                  <a:lnTo>
                    <a:pt x="1301182" y="2312361"/>
                  </a:lnTo>
                  <a:cubicBezTo>
                    <a:pt x="1315037" y="2298506"/>
                    <a:pt x="1325221" y="2279561"/>
                    <a:pt x="1342746" y="2270798"/>
                  </a:cubicBezTo>
                  <a:cubicBezTo>
                    <a:pt x="1353830" y="2265256"/>
                    <a:pt x="1365489" y="2260740"/>
                    <a:pt x="1375997" y="2254172"/>
                  </a:cubicBezTo>
                  <a:cubicBezTo>
                    <a:pt x="1387746" y="2246829"/>
                    <a:pt x="1397974" y="2237287"/>
                    <a:pt x="1409248" y="2229234"/>
                  </a:cubicBezTo>
                  <a:cubicBezTo>
                    <a:pt x="1417378" y="2223427"/>
                    <a:pt x="1425873" y="2218151"/>
                    <a:pt x="1434186" y="2212609"/>
                  </a:cubicBezTo>
                  <a:cubicBezTo>
                    <a:pt x="1442499" y="2201525"/>
                    <a:pt x="1448769" y="2188562"/>
                    <a:pt x="1459124" y="2179358"/>
                  </a:cubicBezTo>
                  <a:cubicBezTo>
                    <a:pt x="1543867" y="2104031"/>
                    <a:pt x="1475901" y="2176874"/>
                    <a:pt x="1542251" y="2129481"/>
                  </a:cubicBezTo>
                  <a:cubicBezTo>
                    <a:pt x="1620876" y="2073320"/>
                    <a:pt x="1509322" y="2133476"/>
                    <a:pt x="1600441" y="2087918"/>
                  </a:cubicBezTo>
                  <a:cubicBezTo>
                    <a:pt x="1588337" y="2057658"/>
                    <a:pt x="1564709" y="2009443"/>
                    <a:pt x="1558877" y="1971539"/>
                  </a:cubicBezTo>
                  <a:cubicBezTo>
                    <a:pt x="1539728" y="1847072"/>
                    <a:pt x="1561009" y="1938505"/>
                    <a:pt x="1542251" y="1863474"/>
                  </a:cubicBezTo>
                  <a:cubicBezTo>
                    <a:pt x="1539480" y="1838536"/>
                    <a:pt x="1537754" y="1813459"/>
                    <a:pt x="1533939" y="1788659"/>
                  </a:cubicBezTo>
                  <a:cubicBezTo>
                    <a:pt x="1532202" y="1777367"/>
                    <a:pt x="1527321" y="1766707"/>
                    <a:pt x="1525626" y="1755409"/>
                  </a:cubicBezTo>
                  <a:cubicBezTo>
                    <a:pt x="1518998" y="1711224"/>
                    <a:pt x="1516994" y="1666364"/>
                    <a:pt x="1509001" y="1622405"/>
                  </a:cubicBezTo>
                  <a:cubicBezTo>
                    <a:pt x="1504425" y="1597239"/>
                    <a:pt x="1481196" y="1543290"/>
                    <a:pt x="1467437" y="1522652"/>
                  </a:cubicBezTo>
                  <a:cubicBezTo>
                    <a:pt x="1460916" y="1512870"/>
                    <a:pt x="1451198" y="1505622"/>
                    <a:pt x="1442499" y="1497714"/>
                  </a:cubicBezTo>
                  <a:cubicBezTo>
                    <a:pt x="1369283" y="1431155"/>
                    <a:pt x="1394652" y="1444065"/>
                    <a:pt x="1309495" y="1414587"/>
                  </a:cubicBezTo>
                  <a:cubicBezTo>
                    <a:pt x="1259813" y="1397389"/>
                    <a:pt x="1211273" y="1375726"/>
                    <a:pt x="1159866" y="1364710"/>
                  </a:cubicBezTo>
                  <a:cubicBezTo>
                    <a:pt x="1082281" y="1348085"/>
                    <a:pt x="1005534" y="1326899"/>
                    <a:pt x="927110" y="1314834"/>
                  </a:cubicBezTo>
                  <a:cubicBezTo>
                    <a:pt x="891088" y="1309292"/>
                    <a:pt x="854724" y="1305642"/>
                    <a:pt x="819044" y="1298209"/>
                  </a:cubicBezTo>
                  <a:cubicBezTo>
                    <a:pt x="788115" y="1291765"/>
                    <a:pt x="756938" y="1285004"/>
                    <a:pt x="727604" y="1273270"/>
                  </a:cubicBezTo>
                  <a:cubicBezTo>
                    <a:pt x="631997" y="1235027"/>
                    <a:pt x="444971" y="1148579"/>
                    <a:pt x="444971" y="1148579"/>
                  </a:cubicBezTo>
                  <a:cubicBezTo>
                    <a:pt x="422804" y="1126412"/>
                    <a:pt x="401388" y="1103468"/>
                    <a:pt x="378470" y="1082078"/>
                  </a:cubicBezTo>
                  <a:cubicBezTo>
                    <a:pt x="228278" y="941898"/>
                    <a:pt x="387493" y="1099413"/>
                    <a:pt x="287030" y="998950"/>
                  </a:cubicBezTo>
                  <a:cubicBezTo>
                    <a:pt x="278717" y="974012"/>
                    <a:pt x="267794" y="949797"/>
                    <a:pt x="262091" y="924136"/>
                  </a:cubicBezTo>
                  <a:cubicBezTo>
                    <a:pt x="227867" y="770131"/>
                    <a:pt x="235436" y="729873"/>
                    <a:pt x="228841" y="558376"/>
                  </a:cubicBezTo>
                  <a:cubicBezTo>
                    <a:pt x="234383" y="455852"/>
                    <a:pt x="225676" y="351553"/>
                    <a:pt x="245466" y="250805"/>
                  </a:cubicBezTo>
                  <a:cubicBezTo>
                    <a:pt x="256694" y="193642"/>
                    <a:pt x="297333" y="146408"/>
                    <a:pt x="320281" y="92863"/>
                  </a:cubicBezTo>
                  <a:cubicBezTo>
                    <a:pt x="328594" y="73467"/>
                    <a:pt x="326035" y="43466"/>
                    <a:pt x="345219" y="34674"/>
                  </a:cubicBezTo>
                  <a:cubicBezTo>
                    <a:pt x="443784" y="-10502"/>
                    <a:pt x="609678" y="1423"/>
                    <a:pt x="710979" y="1423"/>
                  </a:cubicBezTo>
                </a:path>
              </a:pathLst>
            </a:custGeom>
            <a:noFill/>
            <a:ln>
              <a:solidFill>
                <a:schemeClr val="tx2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1BBA4FD-65C0-E32F-3DB4-186CDE0C3C3F}"/>
                </a:ext>
              </a:extLst>
            </p:cNvPr>
            <p:cNvSpPr/>
            <p:nvPr/>
          </p:nvSpPr>
          <p:spPr>
            <a:xfrm>
              <a:off x="8379229" y="2369127"/>
              <a:ext cx="1853738" cy="2957783"/>
            </a:xfrm>
            <a:custGeom>
              <a:avLst/>
              <a:gdLst>
                <a:gd name="connsiteX0" fmla="*/ 124691 w 1853738"/>
                <a:gd name="connsiteY0" fmla="*/ 2951018 h 2957783"/>
                <a:gd name="connsiteX1" fmla="*/ 332509 w 1853738"/>
                <a:gd name="connsiteY1" fmla="*/ 2942706 h 2957783"/>
                <a:gd name="connsiteX2" fmla="*/ 515389 w 1853738"/>
                <a:gd name="connsiteY2" fmla="*/ 2934393 h 2957783"/>
                <a:gd name="connsiteX3" fmla="*/ 831273 w 1853738"/>
                <a:gd name="connsiteY3" fmla="*/ 2942706 h 2957783"/>
                <a:gd name="connsiteX4" fmla="*/ 1263535 w 1853738"/>
                <a:gd name="connsiteY4" fmla="*/ 2934393 h 2957783"/>
                <a:gd name="connsiteX5" fmla="*/ 1305098 w 1853738"/>
                <a:gd name="connsiteY5" fmla="*/ 2909455 h 2957783"/>
                <a:gd name="connsiteX6" fmla="*/ 1396538 w 1853738"/>
                <a:gd name="connsiteY6" fmla="*/ 2826328 h 2957783"/>
                <a:gd name="connsiteX7" fmla="*/ 1429789 w 1853738"/>
                <a:gd name="connsiteY7" fmla="*/ 2801389 h 2957783"/>
                <a:gd name="connsiteX8" fmla="*/ 1438102 w 1853738"/>
                <a:gd name="connsiteY8" fmla="*/ 2776451 h 2957783"/>
                <a:gd name="connsiteX9" fmla="*/ 1471353 w 1853738"/>
                <a:gd name="connsiteY9" fmla="*/ 2701637 h 2957783"/>
                <a:gd name="connsiteX10" fmla="*/ 1496291 w 1853738"/>
                <a:gd name="connsiteY10" fmla="*/ 2610197 h 2957783"/>
                <a:gd name="connsiteX11" fmla="*/ 1471353 w 1853738"/>
                <a:gd name="connsiteY11" fmla="*/ 2460568 h 2957783"/>
                <a:gd name="connsiteX12" fmla="*/ 1463040 w 1853738"/>
                <a:gd name="connsiteY12" fmla="*/ 2427317 h 2957783"/>
                <a:gd name="connsiteX13" fmla="*/ 1446415 w 1853738"/>
                <a:gd name="connsiteY13" fmla="*/ 2385753 h 2957783"/>
                <a:gd name="connsiteX14" fmla="*/ 1388226 w 1853738"/>
                <a:gd name="connsiteY14" fmla="*/ 2236124 h 2957783"/>
                <a:gd name="connsiteX15" fmla="*/ 1330036 w 1853738"/>
                <a:gd name="connsiteY15" fmla="*/ 2136371 h 2957783"/>
                <a:gd name="connsiteX16" fmla="*/ 1296786 w 1853738"/>
                <a:gd name="connsiteY16" fmla="*/ 2111433 h 2957783"/>
                <a:gd name="connsiteX17" fmla="*/ 1271847 w 1853738"/>
                <a:gd name="connsiteY17" fmla="*/ 2103120 h 2957783"/>
                <a:gd name="connsiteX18" fmla="*/ 1122218 w 1853738"/>
                <a:gd name="connsiteY18" fmla="*/ 2078182 h 2957783"/>
                <a:gd name="connsiteX19" fmla="*/ 881149 w 1853738"/>
                <a:gd name="connsiteY19" fmla="*/ 2119746 h 2957783"/>
                <a:gd name="connsiteX20" fmla="*/ 847898 w 1853738"/>
                <a:gd name="connsiteY20" fmla="*/ 2152997 h 2957783"/>
                <a:gd name="connsiteX21" fmla="*/ 831273 w 1853738"/>
                <a:gd name="connsiteY21" fmla="*/ 2194560 h 2957783"/>
                <a:gd name="connsiteX22" fmla="*/ 822960 w 1853738"/>
                <a:gd name="connsiteY22" fmla="*/ 2335877 h 2957783"/>
                <a:gd name="connsiteX23" fmla="*/ 814647 w 1853738"/>
                <a:gd name="connsiteY23" fmla="*/ 2510444 h 2957783"/>
                <a:gd name="connsiteX24" fmla="*/ 789709 w 1853738"/>
                <a:gd name="connsiteY24" fmla="*/ 2560320 h 2957783"/>
                <a:gd name="connsiteX25" fmla="*/ 781396 w 1853738"/>
                <a:gd name="connsiteY25" fmla="*/ 2585258 h 2957783"/>
                <a:gd name="connsiteX26" fmla="*/ 689956 w 1853738"/>
                <a:gd name="connsiteY26" fmla="*/ 2593571 h 2957783"/>
                <a:gd name="connsiteX27" fmla="*/ 507076 w 1853738"/>
                <a:gd name="connsiteY27" fmla="*/ 2568633 h 2957783"/>
                <a:gd name="connsiteX28" fmla="*/ 407324 w 1853738"/>
                <a:gd name="connsiteY28" fmla="*/ 2543695 h 2957783"/>
                <a:gd name="connsiteX29" fmla="*/ 374073 w 1853738"/>
                <a:gd name="connsiteY29" fmla="*/ 2527069 h 2957783"/>
                <a:gd name="connsiteX30" fmla="*/ 290946 w 1853738"/>
                <a:gd name="connsiteY30" fmla="*/ 2460568 h 2957783"/>
                <a:gd name="connsiteX31" fmla="*/ 216131 w 1853738"/>
                <a:gd name="connsiteY31" fmla="*/ 2327564 h 2957783"/>
                <a:gd name="connsiteX32" fmla="*/ 166255 w 1853738"/>
                <a:gd name="connsiteY32" fmla="*/ 2236124 h 2957783"/>
                <a:gd name="connsiteX33" fmla="*/ 157942 w 1853738"/>
                <a:gd name="connsiteY33" fmla="*/ 2211186 h 2957783"/>
                <a:gd name="connsiteX34" fmla="*/ 141316 w 1853738"/>
                <a:gd name="connsiteY34" fmla="*/ 2177935 h 2957783"/>
                <a:gd name="connsiteX35" fmla="*/ 91440 w 1853738"/>
                <a:gd name="connsiteY35" fmla="*/ 2078182 h 2957783"/>
                <a:gd name="connsiteX36" fmla="*/ 66502 w 1853738"/>
                <a:gd name="connsiteY36" fmla="*/ 1986742 h 2957783"/>
                <a:gd name="connsiteX37" fmla="*/ 41564 w 1853738"/>
                <a:gd name="connsiteY37" fmla="*/ 1936866 h 2957783"/>
                <a:gd name="connsiteX38" fmla="*/ 16626 w 1853738"/>
                <a:gd name="connsiteY38" fmla="*/ 1845426 h 2957783"/>
                <a:gd name="connsiteX39" fmla="*/ 8313 w 1853738"/>
                <a:gd name="connsiteY39" fmla="*/ 1612669 h 2957783"/>
                <a:gd name="connsiteX40" fmla="*/ 0 w 1853738"/>
                <a:gd name="connsiteY40" fmla="*/ 1529542 h 2957783"/>
                <a:gd name="connsiteX41" fmla="*/ 16626 w 1853738"/>
                <a:gd name="connsiteY41" fmla="*/ 1072342 h 2957783"/>
                <a:gd name="connsiteX42" fmla="*/ 24938 w 1853738"/>
                <a:gd name="connsiteY42" fmla="*/ 665018 h 2957783"/>
                <a:gd name="connsiteX43" fmla="*/ 74815 w 1853738"/>
                <a:gd name="connsiteY43" fmla="*/ 415637 h 2957783"/>
                <a:gd name="connsiteX44" fmla="*/ 83127 w 1853738"/>
                <a:gd name="connsiteY44" fmla="*/ 324197 h 2957783"/>
                <a:gd name="connsiteX45" fmla="*/ 91440 w 1853738"/>
                <a:gd name="connsiteY45" fmla="*/ 290946 h 2957783"/>
                <a:gd name="connsiteX46" fmla="*/ 108066 w 1853738"/>
                <a:gd name="connsiteY46" fmla="*/ 274320 h 2957783"/>
                <a:gd name="connsiteX47" fmla="*/ 191193 w 1853738"/>
                <a:gd name="connsiteY47" fmla="*/ 315884 h 2957783"/>
                <a:gd name="connsiteX48" fmla="*/ 249382 w 1853738"/>
                <a:gd name="connsiteY48" fmla="*/ 340822 h 2957783"/>
                <a:gd name="connsiteX49" fmla="*/ 399011 w 1853738"/>
                <a:gd name="connsiteY49" fmla="*/ 390698 h 2957783"/>
                <a:gd name="connsiteX50" fmla="*/ 615142 w 1853738"/>
                <a:gd name="connsiteY50" fmla="*/ 448888 h 2957783"/>
                <a:gd name="connsiteX51" fmla="*/ 723207 w 1853738"/>
                <a:gd name="connsiteY51" fmla="*/ 473826 h 2957783"/>
                <a:gd name="connsiteX52" fmla="*/ 889462 w 1853738"/>
                <a:gd name="connsiteY52" fmla="*/ 465513 h 2957783"/>
                <a:gd name="connsiteX53" fmla="*/ 939338 w 1853738"/>
                <a:gd name="connsiteY53" fmla="*/ 432262 h 2957783"/>
                <a:gd name="connsiteX54" fmla="*/ 964276 w 1853738"/>
                <a:gd name="connsiteY54" fmla="*/ 423949 h 2957783"/>
                <a:gd name="connsiteX55" fmla="*/ 1014153 w 1853738"/>
                <a:gd name="connsiteY55" fmla="*/ 374073 h 2957783"/>
                <a:gd name="connsiteX56" fmla="*/ 1039091 w 1853738"/>
                <a:gd name="connsiteY56" fmla="*/ 324197 h 2957783"/>
                <a:gd name="connsiteX57" fmla="*/ 1064029 w 1853738"/>
                <a:gd name="connsiteY57" fmla="*/ 299258 h 2957783"/>
                <a:gd name="connsiteX58" fmla="*/ 1088967 w 1853738"/>
                <a:gd name="connsiteY58" fmla="*/ 257695 h 2957783"/>
                <a:gd name="connsiteX59" fmla="*/ 1105593 w 1853738"/>
                <a:gd name="connsiteY59" fmla="*/ 224444 h 2957783"/>
                <a:gd name="connsiteX60" fmla="*/ 1130531 w 1853738"/>
                <a:gd name="connsiteY60" fmla="*/ 199506 h 2957783"/>
                <a:gd name="connsiteX61" fmla="*/ 1155469 w 1853738"/>
                <a:gd name="connsiteY61" fmla="*/ 166255 h 2957783"/>
                <a:gd name="connsiteX62" fmla="*/ 1288473 w 1853738"/>
                <a:gd name="connsiteY62" fmla="*/ 49877 h 2957783"/>
                <a:gd name="connsiteX63" fmla="*/ 1330036 w 1853738"/>
                <a:gd name="connsiteY63" fmla="*/ 33251 h 2957783"/>
                <a:gd name="connsiteX64" fmla="*/ 1371600 w 1853738"/>
                <a:gd name="connsiteY64" fmla="*/ 8313 h 2957783"/>
                <a:gd name="connsiteX65" fmla="*/ 1471353 w 1853738"/>
                <a:gd name="connsiteY65" fmla="*/ 0 h 2957783"/>
                <a:gd name="connsiteX66" fmla="*/ 1645920 w 1853738"/>
                <a:gd name="connsiteY66" fmla="*/ 8313 h 2957783"/>
                <a:gd name="connsiteX67" fmla="*/ 1787236 w 1853738"/>
                <a:gd name="connsiteY67" fmla="*/ 24938 h 2957783"/>
                <a:gd name="connsiteX68" fmla="*/ 1853738 w 1853738"/>
                <a:gd name="connsiteY68" fmla="*/ 33251 h 2957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1853738" h="2957783">
                  <a:moveTo>
                    <a:pt x="124691" y="2951018"/>
                  </a:moveTo>
                  <a:lnTo>
                    <a:pt x="332509" y="2942706"/>
                  </a:lnTo>
                  <a:cubicBezTo>
                    <a:pt x="393477" y="2940112"/>
                    <a:pt x="454366" y="2934393"/>
                    <a:pt x="515389" y="2934393"/>
                  </a:cubicBezTo>
                  <a:cubicBezTo>
                    <a:pt x="620720" y="2934393"/>
                    <a:pt x="725978" y="2939935"/>
                    <a:pt x="831273" y="2942706"/>
                  </a:cubicBezTo>
                  <a:cubicBezTo>
                    <a:pt x="1001173" y="2963942"/>
                    <a:pt x="972185" y="2964122"/>
                    <a:pt x="1263535" y="2934393"/>
                  </a:cubicBezTo>
                  <a:cubicBezTo>
                    <a:pt x="1279608" y="2932753"/>
                    <a:pt x="1292031" y="2918958"/>
                    <a:pt x="1305098" y="2909455"/>
                  </a:cubicBezTo>
                  <a:cubicBezTo>
                    <a:pt x="1370599" y="2861818"/>
                    <a:pt x="1339154" y="2877337"/>
                    <a:pt x="1396538" y="2826328"/>
                  </a:cubicBezTo>
                  <a:cubicBezTo>
                    <a:pt x="1406893" y="2817123"/>
                    <a:pt x="1418705" y="2809702"/>
                    <a:pt x="1429789" y="2801389"/>
                  </a:cubicBezTo>
                  <a:cubicBezTo>
                    <a:pt x="1432560" y="2793076"/>
                    <a:pt x="1434650" y="2784505"/>
                    <a:pt x="1438102" y="2776451"/>
                  </a:cubicBezTo>
                  <a:cubicBezTo>
                    <a:pt x="1469454" y="2703296"/>
                    <a:pt x="1440427" y="2786685"/>
                    <a:pt x="1471353" y="2701637"/>
                  </a:cubicBezTo>
                  <a:cubicBezTo>
                    <a:pt x="1490101" y="2650081"/>
                    <a:pt x="1486432" y="2659492"/>
                    <a:pt x="1496291" y="2610197"/>
                  </a:cubicBezTo>
                  <a:cubicBezTo>
                    <a:pt x="1487978" y="2560321"/>
                    <a:pt x="1480398" y="2510317"/>
                    <a:pt x="1471353" y="2460568"/>
                  </a:cubicBezTo>
                  <a:cubicBezTo>
                    <a:pt x="1469309" y="2449327"/>
                    <a:pt x="1466653" y="2438156"/>
                    <a:pt x="1463040" y="2427317"/>
                  </a:cubicBezTo>
                  <a:cubicBezTo>
                    <a:pt x="1458321" y="2413161"/>
                    <a:pt x="1451514" y="2399776"/>
                    <a:pt x="1446415" y="2385753"/>
                  </a:cubicBezTo>
                  <a:cubicBezTo>
                    <a:pt x="1401297" y="2261679"/>
                    <a:pt x="1471679" y="2434325"/>
                    <a:pt x="1388226" y="2236124"/>
                  </a:cubicBezTo>
                  <a:cubicBezTo>
                    <a:pt x="1367308" y="2186444"/>
                    <a:pt x="1367212" y="2173548"/>
                    <a:pt x="1330036" y="2136371"/>
                  </a:cubicBezTo>
                  <a:cubicBezTo>
                    <a:pt x="1320240" y="2126574"/>
                    <a:pt x="1308815" y="2118307"/>
                    <a:pt x="1296786" y="2111433"/>
                  </a:cubicBezTo>
                  <a:cubicBezTo>
                    <a:pt x="1289178" y="2107085"/>
                    <a:pt x="1280385" y="2105090"/>
                    <a:pt x="1271847" y="2103120"/>
                  </a:cubicBezTo>
                  <a:cubicBezTo>
                    <a:pt x="1197373" y="2085934"/>
                    <a:pt x="1192600" y="2086980"/>
                    <a:pt x="1122218" y="2078182"/>
                  </a:cubicBezTo>
                  <a:cubicBezTo>
                    <a:pt x="1055109" y="2085925"/>
                    <a:pt x="944531" y="2065418"/>
                    <a:pt x="881149" y="2119746"/>
                  </a:cubicBezTo>
                  <a:cubicBezTo>
                    <a:pt x="869248" y="2129947"/>
                    <a:pt x="858982" y="2141913"/>
                    <a:pt x="847898" y="2152997"/>
                  </a:cubicBezTo>
                  <a:cubicBezTo>
                    <a:pt x="842356" y="2166851"/>
                    <a:pt x="833289" y="2179775"/>
                    <a:pt x="831273" y="2194560"/>
                  </a:cubicBezTo>
                  <a:cubicBezTo>
                    <a:pt x="824897" y="2241314"/>
                    <a:pt x="825440" y="2288755"/>
                    <a:pt x="822960" y="2335877"/>
                  </a:cubicBezTo>
                  <a:cubicBezTo>
                    <a:pt x="819898" y="2394051"/>
                    <a:pt x="823184" y="2452818"/>
                    <a:pt x="814647" y="2510444"/>
                  </a:cubicBezTo>
                  <a:cubicBezTo>
                    <a:pt x="811923" y="2528831"/>
                    <a:pt x="797258" y="2543334"/>
                    <a:pt x="789709" y="2560320"/>
                  </a:cubicBezTo>
                  <a:cubicBezTo>
                    <a:pt x="786150" y="2568327"/>
                    <a:pt x="789709" y="2582487"/>
                    <a:pt x="781396" y="2585258"/>
                  </a:cubicBezTo>
                  <a:cubicBezTo>
                    <a:pt x="752361" y="2594936"/>
                    <a:pt x="720436" y="2590800"/>
                    <a:pt x="689956" y="2593571"/>
                  </a:cubicBezTo>
                  <a:cubicBezTo>
                    <a:pt x="682524" y="2592642"/>
                    <a:pt x="547344" y="2577581"/>
                    <a:pt x="507076" y="2568633"/>
                  </a:cubicBezTo>
                  <a:cubicBezTo>
                    <a:pt x="473618" y="2561198"/>
                    <a:pt x="440575" y="2552008"/>
                    <a:pt x="407324" y="2543695"/>
                  </a:cubicBezTo>
                  <a:cubicBezTo>
                    <a:pt x="396240" y="2538153"/>
                    <a:pt x="384699" y="2533445"/>
                    <a:pt x="374073" y="2527069"/>
                  </a:cubicBezTo>
                  <a:cubicBezTo>
                    <a:pt x="339466" y="2506305"/>
                    <a:pt x="316116" y="2491332"/>
                    <a:pt x="290946" y="2460568"/>
                  </a:cubicBezTo>
                  <a:cubicBezTo>
                    <a:pt x="234593" y="2391692"/>
                    <a:pt x="257834" y="2410970"/>
                    <a:pt x="216131" y="2327564"/>
                  </a:cubicBezTo>
                  <a:cubicBezTo>
                    <a:pt x="195157" y="2285616"/>
                    <a:pt x="182650" y="2274379"/>
                    <a:pt x="166255" y="2236124"/>
                  </a:cubicBezTo>
                  <a:cubicBezTo>
                    <a:pt x="162803" y="2228070"/>
                    <a:pt x="161394" y="2219240"/>
                    <a:pt x="157942" y="2211186"/>
                  </a:cubicBezTo>
                  <a:cubicBezTo>
                    <a:pt x="153060" y="2199796"/>
                    <a:pt x="146444" y="2189216"/>
                    <a:pt x="141316" y="2177935"/>
                  </a:cubicBezTo>
                  <a:cubicBezTo>
                    <a:pt x="102185" y="2091848"/>
                    <a:pt x="133229" y="2147831"/>
                    <a:pt x="91440" y="2078182"/>
                  </a:cubicBezTo>
                  <a:cubicBezTo>
                    <a:pt x="83127" y="2047702"/>
                    <a:pt x="77017" y="2016534"/>
                    <a:pt x="66502" y="1986742"/>
                  </a:cubicBezTo>
                  <a:cubicBezTo>
                    <a:pt x="60316" y="1969214"/>
                    <a:pt x="47750" y="1954394"/>
                    <a:pt x="41564" y="1936866"/>
                  </a:cubicBezTo>
                  <a:cubicBezTo>
                    <a:pt x="31049" y="1907074"/>
                    <a:pt x="24939" y="1875906"/>
                    <a:pt x="16626" y="1845426"/>
                  </a:cubicBezTo>
                  <a:cubicBezTo>
                    <a:pt x="13855" y="1767840"/>
                    <a:pt x="12394" y="1690197"/>
                    <a:pt x="8313" y="1612669"/>
                  </a:cubicBezTo>
                  <a:cubicBezTo>
                    <a:pt x="6849" y="1584860"/>
                    <a:pt x="0" y="1557389"/>
                    <a:pt x="0" y="1529542"/>
                  </a:cubicBezTo>
                  <a:cubicBezTo>
                    <a:pt x="0" y="1363340"/>
                    <a:pt x="8233" y="1231801"/>
                    <a:pt x="16626" y="1072342"/>
                  </a:cubicBezTo>
                  <a:cubicBezTo>
                    <a:pt x="19397" y="936567"/>
                    <a:pt x="15530" y="800495"/>
                    <a:pt x="24938" y="665018"/>
                  </a:cubicBezTo>
                  <a:cubicBezTo>
                    <a:pt x="32515" y="555904"/>
                    <a:pt x="49502" y="504231"/>
                    <a:pt x="74815" y="415637"/>
                  </a:cubicBezTo>
                  <a:cubicBezTo>
                    <a:pt x="77586" y="385157"/>
                    <a:pt x="79082" y="354534"/>
                    <a:pt x="83127" y="324197"/>
                  </a:cubicBezTo>
                  <a:cubicBezTo>
                    <a:pt x="84637" y="312872"/>
                    <a:pt x="86331" y="301165"/>
                    <a:pt x="91440" y="290946"/>
                  </a:cubicBezTo>
                  <a:cubicBezTo>
                    <a:pt x="94945" y="283936"/>
                    <a:pt x="102524" y="279862"/>
                    <a:pt x="108066" y="274320"/>
                  </a:cubicBezTo>
                  <a:cubicBezTo>
                    <a:pt x="162327" y="315017"/>
                    <a:pt x="119329" y="288244"/>
                    <a:pt x="191193" y="315884"/>
                  </a:cubicBezTo>
                  <a:cubicBezTo>
                    <a:pt x="210889" y="323459"/>
                    <a:pt x="229527" y="333674"/>
                    <a:pt x="249382" y="340822"/>
                  </a:cubicBezTo>
                  <a:cubicBezTo>
                    <a:pt x="298848" y="358630"/>
                    <a:pt x="349854" y="372052"/>
                    <a:pt x="399011" y="390698"/>
                  </a:cubicBezTo>
                  <a:cubicBezTo>
                    <a:pt x="568270" y="454900"/>
                    <a:pt x="407611" y="421216"/>
                    <a:pt x="615142" y="448888"/>
                  </a:cubicBezTo>
                  <a:cubicBezTo>
                    <a:pt x="640821" y="456225"/>
                    <a:pt x="694137" y="473826"/>
                    <a:pt x="723207" y="473826"/>
                  </a:cubicBezTo>
                  <a:cubicBezTo>
                    <a:pt x="778695" y="473826"/>
                    <a:pt x="834044" y="468284"/>
                    <a:pt x="889462" y="465513"/>
                  </a:cubicBezTo>
                  <a:cubicBezTo>
                    <a:pt x="948759" y="445747"/>
                    <a:pt x="877070" y="473774"/>
                    <a:pt x="939338" y="432262"/>
                  </a:cubicBezTo>
                  <a:cubicBezTo>
                    <a:pt x="946629" y="427401"/>
                    <a:pt x="955963" y="426720"/>
                    <a:pt x="964276" y="423949"/>
                  </a:cubicBezTo>
                  <a:cubicBezTo>
                    <a:pt x="980902" y="407324"/>
                    <a:pt x="1006718" y="396378"/>
                    <a:pt x="1014153" y="374073"/>
                  </a:cubicBezTo>
                  <a:cubicBezTo>
                    <a:pt x="1022484" y="349080"/>
                    <a:pt x="1021187" y="345683"/>
                    <a:pt x="1039091" y="324197"/>
                  </a:cubicBezTo>
                  <a:cubicBezTo>
                    <a:pt x="1046617" y="315166"/>
                    <a:pt x="1056975" y="308663"/>
                    <a:pt x="1064029" y="299258"/>
                  </a:cubicBezTo>
                  <a:cubicBezTo>
                    <a:pt x="1073723" y="286332"/>
                    <a:pt x="1081120" y="271819"/>
                    <a:pt x="1088967" y="257695"/>
                  </a:cubicBezTo>
                  <a:cubicBezTo>
                    <a:pt x="1094985" y="246862"/>
                    <a:pt x="1098390" y="234528"/>
                    <a:pt x="1105593" y="224444"/>
                  </a:cubicBezTo>
                  <a:cubicBezTo>
                    <a:pt x="1112426" y="214878"/>
                    <a:pt x="1122880" y="208432"/>
                    <a:pt x="1130531" y="199506"/>
                  </a:cubicBezTo>
                  <a:cubicBezTo>
                    <a:pt x="1139547" y="188987"/>
                    <a:pt x="1146072" y="176435"/>
                    <a:pt x="1155469" y="166255"/>
                  </a:cubicBezTo>
                  <a:cubicBezTo>
                    <a:pt x="1198193" y="119971"/>
                    <a:pt x="1234665" y="81265"/>
                    <a:pt x="1288473" y="49877"/>
                  </a:cubicBezTo>
                  <a:cubicBezTo>
                    <a:pt x="1301362" y="42358"/>
                    <a:pt x="1316690" y="39924"/>
                    <a:pt x="1330036" y="33251"/>
                  </a:cubicBezTo>
                  <a:cubicBezTo>
                    <a:pt x="1344487" y="26025"/>
                    <a:pt x="1355872" y="12014"/>
                    <a:pt x="1371600" y="8313"/>
                  </a:cubicBezTo>
                  <a:cubicBezTo>
                    <a:pt x="1404079" y="671"/>
                    <a:pt x="1438102" y="2771"/>
                    <a:pt x="1471353" y="0"/>
                  </a:cubicBezTo>
                  <a:cubicBezTo>
                    <a:pt x="1529542" y="2771"/>
                    <a:pt x="1587846" y="3728"/>
                    <a:pt x="1645920" y="8313"/>
                  </a:cubicBezTo>
                  <a:cubicBezTo>
                    <a:pt x="1693203" y="12046"/>
                    <a:pt x="1740283" y="18230"/>
                    <a:pt x="1787236" y="24938"/>
                  </a:cubicBezTo>
                  <a:cubicBezTo>
                    <a:pt x="1864245" y="35939"/>
                    <a:pt x="1777042" y="33251"/>
                    <a:pt x="1853738" y="33251"/>
                  </a:cubicBezTo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9D8E9B1-BBC3-4B15-8B51-D09B56CA1D50}"/>
                </a:ext>
              </a:extLst>
            </p:cNvPr>
            <p:cNvSpPr/>
            <p:nvPr/>
          </p:nvSpPr>
          <p:spPr>
            <a:xfrm>
              <a:off x="8462356" y="1845425"/>
              <a:ext cx="2310939" cy="3566317"/>
            </a:xfrm>
            <a:custGeom>
              <a:avLst/>
              <a:gdLst>
                <a:gd name="connsiteX0" fmla="*/ 0 w 2310939"/>
                <a:gd name="connsiteY0" fmla="*/ 3466408 h 3566317"/>
                <a:gd name="connsiteX1" fmla="*/ 33251 w 2310939"/>
                <a:gd name="connsiteY1" fmla="*/ 3507971 h 3566317"/>
                <a:gd name="connsiteX2" fmla="*/ 523702 w 2310939"/>
                <a:gd name="connsiteY2" fmla="*/ 3557848 h 3566317"/>
                <a:gd name="connsiteX3" fmla="*/ 714895 w 2310939"/>
                <a:gd name="connsiteY3" fmla="*/ 3566160 h 3566317"/>
                <a:gd name="connsiteX4" fmla="*/ 1014153 w 2310939"/>
                <a:gd name="connsiteY4" fmla="*/ 3541222 h 3566317"/>
                <a:gd name="connsiteX5" fmla="*/ 1230284 w 2310939"/>
                <a:gd name="connsiteY5" fmla="*/ 3524597 h 3566317"/>
                <a:gd name="connsiteX6" fmla="*/ 1521229 w 2310939"/>
                <a:gd name="connsiteY6" fmla="*/ 3483033 h 3566317"/>
                <a:gd name="connsiteX7" fmla="*/ 1579419 w 2310939"/>
                <a:gd name="connsiteY7" fmla="*/ 3458095 h 3566317"/>
                <a:gd name="connsiteX8" fmla="*/ 1604357 w 2310939"/>
                <a:gd name="connsiteY8" fmla="*/ 3424844 h 3566317"/>
                <a:gd name="connsiteX9" fmla="*/ 1612669 w 2310939"/>
                <a:gd name="connsiteY9" fmla="*/ 3391593 h 3566317"/>
                <a:gd name="connsiteX10" fmla="*/ 1629295 w 2310939"/>
                <a:gd name="connsiteY10" fmla="*/ 3333404 h 3566317"/>
                <a:gd name="connsiteX11" fmla="*/ 1670859 w 2310939"/>
                <a:gd name="connsiteY11" fmla="*/ 3258590 h 3566317"/>
                <a:gd name="connsiteX12" fmla="*/ 1654233 w 2310939"/>
                <a:gd name="connsiteY12" fmla="*/ 3059084 h 3566317"/>
                <a:gd name="connsiteX13" fmla="*/ 1645920 w 2310939"/>
                <a:gd name="connsiteY13" fmla="*/ 3025833 h 3566317"/>
                <a:gd name="connsiteX14" fmla="*/ 1629295 w 2310939"/>
                <a:gd name="connsiteY14" fmla="*/ 3000895 h 3566317"/>
                <a:gd name="connsiteX15" fmla="*/ 1620982 w 2310939"/>
                <a:gd name="connsiteY15" fmla="*/ 2975957 h 3566317"/>
                <a:gd name="connsiteX16" fmla="*/ 1587731 w 2310939"/>
                <a:gd name="connsiteY16" fmla="*/ 2926080 h 3566317"/>
                <a:gd name="connsiteX17" fmla="*/ 1512917 w 2310939"/>
                <a:gd name="connsiteY17" fmla="*/ 2809702 h 3566317"/>
                <a:gd name="connsiteX18" fmla="*/ 1471353 w 2310939"/>
                <a:gd name="connsiteY18" fmla="*/ 2743200 h 3566317"/>
                <a:gd name="connsiteX19" fmla="*/ 1379913 w 2310939"/>
                <a:gd name="connsiteY19" fmla="*/ 2618510 h 3566317"/>
                <a:gd name="connsiteX20" fmla="*/ 1396539 w 2310939"/>
                <a:gd name="connsiteY20" fmla="*/ 2419004 h 3566317"/>
                <a:gd name="connsiteX21" fmla="*/ 1429789 w 2310939"/>
                <a:gd name="connsiteY21" fmla="*/ 2377440 h 3566317"/>
                <a:gd name="connsiteX22" fmla="*/ 1504604 w 2310939"/>
                <a:gd name="connsiteY22" fmla="*/ 2310939 h 3566317"/>
                <a:gd name="connsiteX23" fmla="*/ 1620982 w 2310939"/>
                <a:gd name="connsiteY23" fmla="*/ 2236124 h 3566317"/>
                <a:gd name="connsiteX24" fmla="*/ 1729048 w 2310939"/>
                <a:gd name="connsiteY24" fmla="*/ 2202873 h 3566317"/>
                <a:gd name="connsiteX25" fmla="*/ 1911928 w 2310939"/>
                <a:gd name="connsiteY25" fmla="*/ 2169622 h 3566317"/>
                <a:gd name="connsiteX26" fmla="*/ 2078182 w 2310939"/>
                <a:gd name="connsiteY26" fmla="*/ 2186248 h 3566317"/>
                <a:gd name="connsiteX27" fmla="*/ 2128059 w 2310939"/>
                <a:gd name="connsiteY27" fmla="*/ 2194560 h 3566317"/>
                <a:gd name="connsiteX28" fmla="*/ 2202873 w 2310939"/>
                <a:gd name="connsiteY28" fmla="*/ 2269375 h 3566317"/>
                <a:gd name="connsiteX29" fmla="*/ 2252749 w 2310939"/>
                <a:gd name="connsiteY29" fmla="*/ 2327564 h 3566317"/>
                <a:gd name="connsiteX30" fmla="*/ 2277688 w 2310939"/>
                <a:gd name="connsiteY30" fmla="*/ 2402379 h 3566317"/>
                <a:gd name="connsiteX31" fmla="*/ 2286000 w 2310939"/>
                <a:gd name="connsiteY31" fmla="*/ 2452255 h 3566317"/>
                <a:gd name="connsiteX32" fmla="*/ 2310939 w 2310939"/>
                <a:gd name="connsiteY32" fmla="*/ 2502131 h 3566317"/>
                <a:gd name="connsiteX33" fmla="*/ 2302626 w 2310939"/>
                <a:gd name="connsiteY33" fmla="*/ 2701637 h 3566317"/>
                <a:gd name="connsiteX34" fmla="*/ 2261062 w 2310939"/>
                <a:gd name="connsiteY34" fmla="*/ 2793077 h 3566317"/>
                <a:gd name="connsiteX35" fmla="*/ 2152997 w 2310939"/>
                <a:gd name="connsiteY35" fmla="*/ 2926080 h 3566317"/>
                <a:gd name="connsiteX36" fmla="*/ 2053244 w 2310939"/>
                <a:gd name="connsiteY36" fmla="*/ 2992582 h 3566317"/>
                <a:gd name="connsiteX37" fmla="*/ 1911928 w 2310939"/>
                <a:gd name="connsiteY37" fmla="*/ 3009208 h 3566317"/>
                <a:gd name="connsiteX38" fmla="*/ 1704109 w 2310939"/>
                <a:gd name="connsiteY38" fmla="*/ 2984270 h 3566317"/>
                <a:gd name="connsiteX39" fmla="*/ 1504604 w 2310939"/>
                <a:gd name="connsiteY39" fmla="*/ 2934393 h 3566317"/>
                <a:gd name="connsiteX40" fmla="*/ 1379913 w 2310939"/>
                <a:gd name="connsiteY40" fmla="*/ 2859579 h 3566317"/>
                <a:gd name="connsiteX41" fmla="*/ 1338349 w 2310939"/>
                <a:gd name="connsiteY41" fmla="*/ 2801390 h 3566317"/>
                <a:gd name="connsiteX42" fmla="*/ 1313411 w 2310939"/>
                <a:gd name="connsiteY42" fmla="*/ 2576946 h 3566317"/>
                <a:gd name="connsiteX43" fmla="*/ 1413164 w 2310939"/>
                <a:gd name="connsiteY43" fmla="*/ 2335877 h 3566317"/>
                <a:gd name="connsiteX44" fmla="*/ 1629295 w 2310939"/>
                <a:gd name="connsiteY44" fmla="*/ 2128059 h 3566317"/>
                <a:gd name="connsiteX45" fmla="*/ 1837113 w 2310939"/>
                <a:gd name="connsiteY45" fmla="*/ 1911928 h 3566317"/>
                <a:gd name="connsiteX46" fmla="*/ 1870364 w 2310939"/>
                <a:gd name="connsiteY46" fmla="*/ 1853739 h 3566317"/>
                <a:gd name="connsiteX47" fmla="*/ 1903615 w 2310939"/>
                <a:gd name="connsiteY47" fmla="*/ 1778924 h 3566317"/>
                <a:gd name="connsiteX48" fmla="*/ 1920240 w 2310939"/>
                <a:gd name="connsiteY48" fmla="*/ 1687484 h 3566317"/>
                <a:gd name="connsiteX49" fmla="*/ 1928553 w 2310939"/>
                <a:gd name="connsiteY49" fmla="*/ 1562793 h 3566317"/>
                <a:gd name="connsiteX50" fmla="*/ 1961804 w 2310939"/>
                <a:gd name="connsiteY50" fmla="*/ 1463040 h 3566317"/>
                <a:gd name="connsiteX51" fmla="*/ 1961804 w 2310939"/>
                <a:gd name="connsiteY51" fmla="*/ 1005840 h 3566317"/>
                <a:gd name="connsiteX52" fmla="*/ 1920240 w 2310939"/>
                <a:gd name="connsiteY52" fmla="*/ 906088 h 3566317"/>
                <a:gd name="connsiteX53" fmla="*/ 1870364 w 2310939"/>
                <a:gd name="connsiteY53" fmla="*/ 806335 h 3566317"/>
                <a:gd name="connsiteX54" fmla="*/ 1745673 w 2310939"/>
                <a:gd name="connsiteY54" fmla="*/ 673331 h 3566317"/>
                <a:gd name="connsiteX55" fmla="*/ 1679171 w 2310939"/>
                <a:gd name="connsiteY55" fmla="*/ 631768 h 3566317"/>
                <a:gd name="connsiteX56" fmla="*/ 1587731 w 2310939"/>
                <a:gd name="connsiteY56" fmla="*/ 498764 h 3566317"/>
                <a:gd name="connsiteX57" fmla="*/ 1554480 w 2310939"/>
                <a:gd name="connsiteY57" fmla="*/ 457200 h 3566317"/>
                <a:gd name="connsiteX58" fmla="*/ 1512917 w 2310939"/>
                <a:gd name="connsiteY58" fmla="*/ 399011 h 3566317"/>
                <a:gd name="connsiteX59" fmla="*/ 1471353 w 2310939"/>
                <a:gd name="connsiteY59" fmla="*/ 357448 h 3566317"/>
                <a:gd name="connsiteX60" fmla="*/ 1413164 w 2310939"/>
                <a:gd name="connsiteY60" fmla="*/ 282633 h 3566317"/>
                <a:gd name="connsiteX61" fmla="*/ 1363288 w 2310939"/>
                <a:gd name="connsiteY61" fmla="*/ 216131 h 3566317"/>
                <a:gd name="connsiteX62" fmla="*/ 1346662 w 2310939"/>
                <a:gd name="connsiteY62" fmla="*/ 191193 h 3566317"/>
                <a:gd name="connsiteX63" fmla="*/ 1296786 w 2310939"/>
                <a:gd name="connsiteY63" fmla="*/ 124691 h 3566317"/>
                <a:gd name="connsiteX64" fmla="*/ 1263535 w 2310939"/>
                <a:gd name="connsiteY64" fmla="*/ 66502 h 3566317"/>
                <a:gd name="connsiteX65" fmla="*/ 1255222 w 2310939"/>
                <a:gd name="connsiteY65" fmla="*/ 33251 h 3566317"/>
                <a:gd name="connsiteX66" fmla="*/ 1172095 w 2310939"/>
                <a:gd name="connsiteY66" fmla="*/ 0 h 3566317"/>
                <a:gd name="connsiteX67" fmla="*/ 473826 w 2310939"/>
                <a:gd name="connsiteY67" fmla="*/ 141317 h 3566317"/>
                <a:gd name="connsiteX68" fmla="*/ 399011 w 2310939"/>
                <a:gd name="connsiteY68" fmla="*/ 182880 h 3566317"/>
                <a:gd name="connsiteX69" fmla="*/ 340822 w 2310939"/>
                <a:gd name="connsiteY69" fmla="*/ 290946 h 3566317"/>
                <a:gd name="connsiteX70" fmla="*/ 324197 w 2310939"/>
                <a:gd name="connsiteY70" fmla="*/ 374073 h 3566317"/>
                <a:gd name="connsiteX71" fmla="*/ 307571 w 2310939"/>
                <a:gd name="connsiteY71" fmla="*/ 399011 h 3566317"/>
                <a:gd name="connsiteX72" fmla="*/ 266008 w 2310939"/>
                <a:gd name="connsiteY72" fmla="*/ 490451 h 3566317"/>
                <a:gd name="connsiteX73" fmla="*/ 116379 w 2310939"/>
                <a:gd name="connsiteY73" fmla="*/ 673331 h 3566317"/>
                <a:gd name="connsiteX74" fmla="*/ 83128 w 2310939"/>
                <a:gd name="connsiteY74" fmla="*/ 706582 h 3566317"/>
                <a:gd name="connsiteX75" fmla="*/ 58189 w 2310939"/>
                <a:gd name="connsiteY75" fmla="*/ 739833 h 3566317"/>
                <a:gd name="connsiteX76" fmla="*/ 49877 w 2310939"/>
                <a:gd name="connsiteY76" fmla="*/ 773084 h 356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310939" h="3566317">
                  <a:moveTo>
                    <a:pt x="0" y="3466408"/>
                  </a:moveTo>
                  <a:cubicBezTo>
                    <a:pt x="11084" y="3480262"/>
                    <a:pt x="18206" y="3498568"/>
                    <a:pt x="33251" y="3507971"/>
                  </a:cubicBezTo>
                  <a:cubicBezTo>
                    <a:pt x="177332" y="3598021"/>
                    <a:pt x="371511" y="3554610"/>
                    <a:pt x="523702" y="3557848"/>
                  </a:cubicBezTo>
                  <a:cubicBezTo>
                    <a:pt x="587433" y="3560619"/>
                    <a:pt x="651117" y="3567436"/>
                    <a:pt x="714895" y="3566160"/>
                  </a:cubicBezTo>
                  <a:cubicBezTo>
                    <a:pt x="931729" y="3561823"/>
                    <a:pt x="875693" y="3553090"/>
                    <a:pt x="1014153" y="3541222"/>
                  </a:cubicBezTo>
                  <a:lnTo>
                    <a:pt x="1230284" y="3524597"/>
                  </a:lnTo>
                  <a:cubicBezTo>
                    <a:pt x="1277854" y="3520023"/>
                    <a:pt x="1443937" y="3507187"/>
                    <a:pt x="1521229" y="3483033"/>
                  </a:cubicBezTo>
                  <a:cubicBezTo>
                    <a:pt x="1541371" y="3476739"/>
                    <a:pt x="1560022" y="3466408"/>
                    <a:pt x="1579419" y="3458095"/>
                  </a:cubicBezTo>
                  <a:cubicBezTo>
                    <a:pt x="1587732" y="3447011"/>
                    <a:pt x="1598161" y="3437236"/>
                    <a:pt x="1604357" y="3424844"/>
                  </a:cubicBezTo>
                  <a:cubicBezTo>
                    <a:pt x="1609466" y="3414625"/>
                    <a:pt x="1609663" y="3402615"/>
                    <a:pt x="1612669" y="3391593"/>
                  </a:cubicBezTo>
                  <a:cubicBezTo>
                    <a:pt x="1617977" y="3372131"/>
                    <a:pt x="1622916" y="3352541"/>
                    <a:pt x="1629295" y="3333404"/>
                  </a:cubicBezTo>
                  <a:cubicBezTo>
                    <a:pt x="1644536" y="3287682"/>
                    <a:pt x="1643029" y="3295694"/>
                    <a:pt x="1670859" y="3258590"/>
                  </a:cubicBezTo>
                  <a:cubicBezTo>
                    <a:pt x="1665317" y="3192088"/>
                    <a:pt x="1661342" y="3125437"/>
                    <a:pt x="1654233" y="3059084"/>
                  </a:cubicBezTo>
                  <a:cubicBezTo>
                    <a:pt x="1653016" y="3047724"/>
                    <a:pt x="1650420" y="3036334"/>
                    <a:pt x="1645920" y="3025833"/>
                  </a:cubicBezTo>
                  <a:cubicBezTo>
                    <a:pt x="1641985" y="3016650"/>
                    <a:pt x="1633763" y="3009831"/>
                    <a:pt x="1629295" y="3000895"/>
                  </a:cubicBezTo>
                  <a:cubicBezTo>
                    <a:pt x="1625376" y="2993058"/>
                    <a:pt x="1625237" y="2983617"/>
                    <a:pt x="1620982" y="2975957"/>
                  </a:cubicBezTo>
                  <a:cubicBezTo>
                    <a:pt x="1611278" y="2958490"/>
                    <a:pt x="1598621" y="2942833"/>
                    <a:pt x="1587731" y="2926080"/>
                  </a:cubicBezTo>
                  <a:cubicBezTo>
                    <a:pt x="1562598" y="2887413"/>
                    <a:pt x="1537676" y="2848609"/>
                    <a:pt x="1512917" y="2809702"/>
                  </a:cubicBezTo>
                  <a:cubicBezTo>
                    <a:pt x="1498883" y="2787648"/>
                    <a:pt x="1487906" y="2763432"/>
                    <a:pt x="1471353" y="2743200"/>
                  </a:cubicBezTo>
                  <a:cubicBezTo>
                    <a:pt x="1388692" y="2642169"/>
                    <a:pt x="1414152" y="2686984"/>
                    <a:pt x="1379913" y="2618510"/>
                  </a:cubicBezTo>
                  <a:cubicBezTo>
                    <a:pt x="1385455" y="2552008"/>
                    <a:pt x="1383019" y="2484353"/>
                    <a:pt x="1396539" y="2419004"/>
                  </a:cubicBezTo>
                  <a:cubicBezTo>
                    <a:pt x="1400134" y="2401630"/>
                    <a:pt x="1417243" y="2389986"/>
                    <a:pt x="1429789" y="2377440"/>
                  </a:cubicBezTo>
                  <a:cubicBezTo>
                    <a:pt x="1453382" y="2353847"/>
                    <a:pt x="1477772" y="2330771"/>
                    <a:pt x="1504604" y="2310939"/>
                  </a:cubicBezTo>
                  <a:cubicBezTo>
                    <a:pt x="1541690" y="2283527"/>
                    <a:pt x="1579430" y="2256130"/>
                    <a:pt x="1620982" y="2236124"/>
                  </a:cubicBezTo>
                  <a:cubicBezTo>
                    <a:pt x="1654939" y="2219774"/>
                    <a:pt x="1692566" y="2212331"/>
                    <a:pt x="1729048" y="2202873"/>
                  </a:cubicBezTo>
                  <a:cubicBezTo>
                    <a:pt x="1820967" y="2179042"/>
                    <a:pt x="1832132" y="2179597"/>
                    <a:pt x="1911928" y="2169622"/>
                  </a:cubicBezTo>
                  <a:lnTo>
                    <a:pt x="2078182" y="2186248"/>
                  </a:lnTo>
                  <a:cubicBezTo>
                    <a:pt x="2094926" y="2188180"/>
                    <a:pt x="2112983" y="2187022"/>
                    <a:pt x="2128059" y="2194560"/>
                  </a:cubicBezTo>
                  <a:cubicBezTo>
                    <a:pt x="2173127" y="2217094"/>
                    <a:pt x="2174842" y="2236672"/>
                    <a:pt x="2202873" y="2269375"/>
                  </a:cubicBezTo>
                  <a:cubicBezTo>
                    <a:pt x="2272342" y="2350423"/>
                    <a:pt x="2179822" y="2230327"/>
                    <a:pt x="2252749" y="2327564"/>
                  </a:cubicBezTo>
                  <a:cubicBezTo>
                    <a:pt x="2261062" y="2352502"/>
                    <a:pt x="2270915" y="2376979"/>
                    <a:pt x="2277688" y="2402379"/>
                  </a:cubicBezTo>
                  <a:cubicBezTo>
                    <a:pt x="2282031" y="2418665"/>
                    <a:pt x="2280670" y="2436265"/>
                    <a:pt x="2286000" y="2452255"/>
                  </a:cubicBezTo>
                  <a:cubicBezTo>
                    <a:pt x="2291878" y="2469889"/>
                    <a:pt x="2302626" y="2485506"/>
                    <a:pt x="2310939" y="2502131"/>
                  </a:cubicBezTo>
                  <a:cubicBezTo>
                    <a:pt x="2308168" y="2568633"/>
                    <a:pt x="2313872" y="2636034"/>
                    <a:pt x="2302626" y="2701637"/>
                  </a:cubicBezTo>
                  <a:cubicBezTo>
                    <a:pt x="2296969" y="2734637"/>
                    <a:pt x="2276656" y="2763449"/>
                    <a:pt x="2261062" y="2793077"/>
                  </a:cubicBezTo>
                  <a:cubicBezTo>
                    <a:pt x="2231634" y="2848991"/>
                    <a:pt x="2203506" y="2885673"/>
                    <a:pt x="2152997" y="2926080"/>
                  </a:cubicBezTo>
                  <a:cubicBezTo>
                    <a:pt x="2121791" y="2951044"/>
                    <a:pt x="2091024" y="2979554"/>
                    <a:pt x="2053244" y="2992582"/>
                  </a:cubicBezTo>
                  <a:cubicBezTo>
                    <a:pt x="2008405" y="3008044"/>
                    <a:pt x="1959033" y="3003666"/>
                    <a:pt x="1911928" y="3009208"/>
                  </a:cubicBezTo>
                  <a:cubicBezTo>
                    <a:pt x="1842655" y="3000895"/>
                    <a:pt x="1772524" y="2997953"/>
                    <a:pt x="1704109" y="2984270"/>
                  </a:cubicBezTo>
                  <a:cubicBezTo>
                    <a:pt x="1332860" y="2910020"/>
                    <a:pt x="1750539" y="2961720"/>
                    <a:pt x="1504604" y="2934393"/>
                  </a:cubicBezTo>
                  <a:cubicBezTo>
                    <a:pt x="1462137" y="2913159"/>
                    <a:pt x="1415021" y="2892179"/>
                    <a:pt x="1379913" y="2859579"/>
                  </a:cubicBezTo>
                  <a:cubicBezTo>
                    <a:pt x="1362446" y="2843360"/>
                    <a:pt x="1352204" y="2820786"/>
                    <a:pt x="1338349" y="2801390"/>
                  </a:cubicBezTo>
                  <a:cubicBezTo>
                    <a:pt x="1331105" y="2757924"/>
                    <a:pt x="1303912" y="2614942"/>
                    <a:pt x="1313411" y="2576946"/>
                  </a:cubicBezTo>
                  <a:cubicBezTo>
                    <a:pt x="1334503" y="2492578"/>
                    <a:pt x="1371394" y="2412153"/>
                    <a:pt x="1413164" y="2335877"/>
                  </a:cubicBezTo>
                  <a:cubicBezTo>
                    <a:pt x="1465588" y="2240147"/>
                    <a:pt x="1550550" y="2197539"/>
                    <a:pt x="1629295" y="2128059"/>
                  </a:cubicBezTo>
                  <a:cubicBezTo>
                    <a:pt x="1722658" y="2045680"/>
                    <a:pt x="1776084" y="2003471"/>
                    <a:pt x="1837113" y="1911928"/>
                  </a:cubicBezTo>
                  <a:cubicBezTo>
                    <a:pt x="1849505" y="1893340"/>
                    <a:pt x="1860373" y="1873720"/>
                    <a:pt x="1870364" y="1853739"/>
                  </a:cubicBezTo>
                  <a:cubicBezTo>
                    <a:pt x="1882569" y="1829330"/>
                    <a:pt x="1892531" y="1803862"/>
                    <a:pt x="1903615" y="1778924"/>
                  </a:cubicBezTo>
                  <a:cubicBezTo>
                    <a:pt x="1909157" y="1748444"/>
                    <a:pt x="1916689" y="1718259"/>
                    <a:pt x="1920240" y="1687484"/>
                  </a:cubicBezTo>
                  <a:cubicBezTo>
                    <a:pt x="1925015" y="1646103"/>
                    <a:pt x="1920968" y="1603753"/>
                    <a:pt x="1928553" y="1562793"/>
                  </a:cubicBezTo>
                  <a:cubicBezTo>
                    <a:pt x="1934935" y="1528329"/>
                    <a:pt x="1950720" y="1496291"/>
                    <a:pt x="1961804" y="1463040"/>
                  </a:cubicBezTo>
                  <a:cubicBezTo>
                    <a:pt x="1977620" y="1273253"/>
                    <a:pt x="1979447" y="1294004"/>
                    <a:pt x="1961804" y="1005840"/>
                  </a:cubicBezTo>
                  <a:cubicBezTo>
                    <a:pt x="1960117" y="978278"/>
                    <a:pt x="1930938" y="929267"/>
                    <a:pt x="1920240" y="906088"/>
                  </a:cubicBezTo>
                  <a:cubicBezTo>
                    <a:pt x="1899572" y="861308"/>
                    <a:pt x="1898017" y="844358"/>
                    <a:pt x="1870364" y="806335"/>
                  </a:cubicBezTo>
                  <a:cubicBezTo>
                    <a:pt x="1846447" y="773450"/>
                    <a:pt x="1766723" y="686487"/>
                    <a:pt x="1745673" y="673331"/>
                  </a:cubicBezTo>
                  <a:lnTo>
                    <a:pt x="1679171" y="631768"/>
                  </a:lnTo>
                  <a:cubicBezTo>
                    <a:pt x="1648691" y="587433"/>
                    <a:pt x="1621340" y="540776"/>
                    <a:pt x="1587731" y="498764"/>
                  </a:cubicBezTo>
                  <a:cubicBezTo>
                    <a:pt x="1576647" y="484909"/>
                    <a:pt x="1565125" y="471394"/>
                    <a:pt x="1554480" y="457200"/>
                  </a:cubicBezTo>
                  <a:cubicBezTo>
                    <a:pt x="1540178" y="438131"/>
                    <a:pt x="1528177" y="417322"/>
                    <a:pt x="1512917" y="399011"/>
                  </a:cubicBezTo>
                  <a:cubicBezTo>
                    <a:pt x="1500374" y="383959"/>
                    <a:pt x="1483593" y="372748"/>
                    <a:pt x="1471353" y="357448"/>
                  </a:cubicBezTo>
                  <a:cubicBezTo>
                    <a:pt x="1383340" y="247433"/>
                    <a:pt x="1511208" y="380677"/>
                    <a:pt x="1413164" y="282633"/>
                  </a:cubicBezTo>
                  <a:cubicBezTo>
                    <a:pt x="1382888" y="222079"/>
                    <a:pt x="1413702" y="274947"/>
                    <a:pt x="1363288" y="216131"/>
                  </a:cubicBezTo>
                  <a:cubicBezTo>
                    <a:pt x="1356786" y="208546"/>
                    <a:pt x="1352538" y="199273"/>
                    <a:pt x="1346662" y="191193"/>
                  </a:cubicBezTo>
                  <a:cubicBezTo>
                    <a:pt x="1330364" y="168784"/>
                    <a:pt x="1309178" y="149475"/>
                    <a:pt x="1296786" y="124691"/>
                  </a:cubicBezTo>
                  <a:cubicBezTo>
                    <a:pt x="1275692" y="82504"/>
                    <a:pt x="1287034" y="101751"/>
                    <a:pt x="1263535" y="66502"/>
                  </a:cubicBezTo>
                  <a:cubicBezTo>
                    <a:pt x="1260764" y="55418"/>
                    <a:pt x="1262536" y="42028"/>
                    <a:pt x="1255222" y="33251"/>
                  </a:cubicBezTo>
                  <a:cubicBezTo>
                    <a:pt x="1245814" y="21962"/>
                    <a:pt x="1177840" y="1915"/>
                    <a:pt x="1172095" y="0"/>
                  </a:cubicBezTo>
                  <a:cubicBezTo>
                    <a:pt x="979214" y="22962"/>
                    <a:pt x="650165" y="43353"/>
                    <a:pt x="473826" y="141317"/>
                  </a:cubicBezTo>
                  <a:lnTo>
                    <a:pt x="399011" y="182880"/>
                  </a:lnTo>
                  <a:cubicBezTo>
                    <a:pt x="367568" y="224805"/>
                    <a:pt x="360261" y="229390"/>
                    <a:pt x="340822" y="290946"/>
                  </a:cubicBezTo>
                  <a:cubicBezTo>
                    <a:pt x="332313" y="317892"/>
                    <a:pt x="332507" y="347065"/>
                    <a:pt x="324197" y="374073"/>
                  </a:cubicBezTo>
                  <a:cubicBezTo>
                    <a:pt x="321259" y="383622"/>
                    <a:pt x="312039" y="390075"/>
                    <a:pt x="307571" y="399011"/>
                  </a:cubicBezTo>
                  <a:cubicBezTo>
                    <a:pt x="292598" y="428957"/>
                    <a:pt x="281673" y="460861"/>
                    <a:pt x="266008" y="490451"/>
                  </a:cubicBezTo>
                  <a:cubicBezTo>
                    <a:pt x="235984" y="547163"/>
                    <a:pt x="140061" y="649649"/>
                    <a:pt x="116379" y="673331"/>
                  </a:cubicBezTo>
                  <a:cubicBezTo>
                    <a:pt x="105295" y="684415"/>
                    <a:pt x="93450" y="694786"/>
                    <a:pt x="83128" y="706582"/>
                  </a:cubicBezTo>
                  <a:cubicBezTo>
                    <a:pt x="74005" y="717009"/>
                    <a:pt x="66502" y="728749"/>
                    <a:pt x="58189" y="739833"/>
                  </a:cubicBezTo>
                  <a:lnTo>
                    <a:pt x="49877" y="773084"/>
                  </a:ln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Barlow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8CFADE6-AF05-C292-2065-783202648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85374" y="4551420"/>
              <a:ext cx="708943" cy="45334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E1C9737-9F79-3DDB-E10D-FAB4DD72E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76079" y="2005237"/>
              <a:ext cx="708943" cy="4533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D59DB09-8CAE-A8ED-DF75-87A38CBCA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78495" y="3202326"/>
              <a:ext cx="708943" cy="453347"/>
            </a:xfrm>
            <a:prstGeom prst="rect">
              <a:avLst/>
            </a:prstGeom>
          </p:spPr>
        </p:pic>
        <p:sp>
          <p:nvSpPr>
            <p:cNvPr id="13" name="Explosion: 8 Points 12">
              <a:extLst>
                <a:ext uri="{FF2B5EF4-FFF2-40B4-BE49-F238E27FC236}">
                  <a16:creationId xmlns:a16="http://schemas.microsoft.com/office/drawing/2014/main" id="{2A8D02F2-217B-8C39-538D-E0D959C4B874}"/>
                </a:ext>
              </a:extLst>
            </p:cNvPr>
            <p:cNvSpPr/>
            <p:nvPr/>
          </p:nvSpPr>
          <p:spPr>
            <a:xfrm>
              <a:off x="9175062" y="5312246"/>
              <a:ext cx="281507" cy="306261"/>
            </a:xfrm>
            <a:prstGeom prst="irregularSeal1">
              <a:avLst/>
            </a:prstGeom>
            <a:solidFill>
              <a:srgbClr val="FF0000">
                <a:alpha val="22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sp>
          <p:nvSpPr>
            <p:cNvPr id="14" name="Explosion: 8 Points 13">
              <a:extLst>
                <a:ext uri="{FF2B5EF4-FFF2-40B4-BE49-F238E27FC236}">
                  <a16:creationId xmlns:a16="http://schemas.microsoft.com/office/drawing/2014/main" id="{081265A9-2BF8-5D8F-CDD7-8DE4D591F188}"/>
                </a:ext>
              </a:extLst>
            </p:cNvPr>
            <p:cNvSpPr/>
            <p:nvPr/>
          </p:nvSpPr>
          <p:spPr>
            <a:xfrm>
              <a:off x="9095331" y="4070253"/>
              <a:ext cx="281507" cy="306261"/>
            </a:xfrm>
            <a:prstGeom prst="irregularSeal1">
              <a:avLst/>
            </a:prstGeom>
            <a:solidFill>
              <a:srgbClr val="FF0000">
                <a:alpha val="22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sp>
          <p:nvSpPr>
            <p:cNvPr id="15" name="Explosion: 8 Points 14">
              <a:extLst>
                <a:ext uri="{FF2B5EF4-FFF2-40B4-BE49-F238E27FC236}">
                  <a16:creationId xmlns:a16="http://schemas.microsoft.com/office/drawing/2014/main" id="{8ECBAFBE-5866-DEAE-1523-729A5C3EC302}"/>
                </a:ext>
              </a:extLst>
            </p:cNvPr>
            <p:cNvSpPr/>
            <p:nvPr/>
          </p:nvSpPr>
          <p:spPr>
            <a:xfrm>
              <a:off x="8227965" y="3049195"/>
              <a:ext cx="281507" cy="306261"/>
            </a:xfrm>
            <a:prstGeom prst="irregularSeal1">
              <a:avLst/>
            </a:prstGeom>
            <a:solidFill>
              <a:srgbClr val="FF0000">
                <a:alpha val="22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sp>
          <p:nvSpPr>
            <p:cNvPr id="16" name="Arrow: Striped Right 15">
              <a:extLst>
                <a:ext uri="{FF2B5EF4-FFF2-40B4-BE49-F238E27FC236}">
                  <a16:creationId xmlns:a16="http://schemas.microsoft.com/office/drawing/2014/main" id="{1F99DACC-6A76-EFB6-63B5-152DAAA7D449}"/>
                </a:ext>
              </a:extLst>
            </p:cNvPr>
            <p:cNvSpPr/>
            <p:nvPr/>
          </p:nvSpPr>
          <p:spPr>
            <a:xfrm rot="7861456">
              <a:off x="8403412" y="2601621"/>
              <a:ext cx="777204" cy="311033"/>
            </a:xfrm>
            <a:prstGeom prst="stripedRightArrow">
              <a:avLst>
                <a:gd name="adj1" fmla="val 54054"/>
                <a:gd name="adj2" fmla="val 71285"/>
              </a:avLst>
            </a:prstGeom>
            <a:solidFill>
              <a:srgbClr val="FF000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Barlow"/>
              </a:endParaRPr>
            </a:p>
          </p:txBody>
        </p:sp>
        <p:sp>
          <p:nvSpPr>
            <p:cNvPr id="17" name="Arrow: Striped Right 16">
              <a:extLst>
                <a:ext uri="{FF2B5EF4-FFF2-40B4-BE49-F238E27FC236}">
                  <a16:creationId xmlns:a16="http://schemas.microsoft.com/office/drawing/2014/main" id="{858EA47E-06BC-F946-2947-5DAB4427CAB4}"/>
                </a:ext>
              </a:extLst>
            </p:cNvPr>
            <p:cNvSpPr/>
            <p:nvPr/>
          </p:nvSpPr>
          <p:spPr>
            <a:xfrm rot="8653960">
              <a:off x="9404762" y="5033248"/>
              <a:ext cx="727231" cy="309600"/>
            </a:xfrm>
            <a:prstGeom prst="stripedRightArrow">
              <a:avLst>
                <a:gd name="adj1" fmla="val 54054"/>
                <a:gd name="adj2" fmla="val 71285"/>
              </a:avLst>
            </a:prstGeom>
            <a:solidFill>
              <a:srgbClr val="FF000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Barlow"/>
              </a:endParaRPr>
            </a:p>
          </p:txBody>
        </p:sp>
        <p:sp>
          <p:nvSpPr>
            <p:cNvPr id="18" name="Arrow: Striped Right 17">
              <a:extLst>
                <a:ext uri="{FF2B5EF4-FFF2-40B4-BE49-F238E27FC236}">
                  <a16:creationId xmlns:a16="http://schemas.microsoft.com/office/drawing/2014/main" id="{B19F000D-3AC6-199D-5479-99CE590F0870}"/>
                </a:ext>
              </a:extLst>
            </p:cNvPr>
            <p:cNvSpPr/>
            <p:nvPr/>
          </p:nvSpPr>
          <p:spPr>
            <a:xfrm rot="8173875">
              <a:off x="9294521" y="3778637"/>
              <a:ext cx="681570" cy="311033"/>
            </a:xfrm>
            <a:prstGeom prst="stripedRightArrow">
              <a:avLst>
                <a:gd name="adj1" fmla="val 54054"/>
                <a:gd name="adj2" fmla="val 71285"/>
              </a:avLst>
            </a:prstGeom>
            <a:solidFill>
              <a:srgbClr val="FF000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Barlow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9D10C68-B341-746F-2A2B-C98E25C23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37545" y="3146926"/>
              <a:ext cx="436551" cy="25094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06C9E03-6E6C-BDF9-92D2-D12D3B634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03474" y="4149215"/>
              <a:ext cx="436551" cy="25094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898DB42-F657-6DFA-1CA3-C05A5E898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40900" y="5354795"/>
              <a:ext cx="436551" cy="250946"/>
            </a:xfrm>
            <a:prstGeom prst="rect">
              <a:avLst/>
            </a:prstGeom>
          </p:spPr>
        </p:pic>
        <p:sp>
          <p:nvSpPr>
            <p:cNvPr id="22" name="Arrow: Striped Right 21">
              <a:extLst>
                <a:ext uri="{FF2B5EF4-FFF2-40B4-BE49-F238E27FC236}">
                  <a16:creationId xmlns:a16="http://schemas.microsoft.com/office/drawing/2014/main" id="{9E710C8D-893C-6A59-29C8-C2773688399D}"/>
                </a:ext>
              </a:extLst>
            </p:cNvPr>
            <p:cNvSpPr/>
            <p:nvPr/>
          </p:nvSpPr>
          <p:spPr>
            <a:xfrm rot="17600895">
              <a:off x="10215832" y="4142344"/>
              <a:ext cx="506315" cy="309600"/>
            </a:xfrm>
            <a:prstGeom prst="stripedRightArrow">
              <a:avLst>
                <a:gd name="adj1" fmla="val 54054"/>
                <a:gd name="adj2" fmla="val 71285"/>
              </a:avLst>
            </a:prstGeom>
            <a:solidFill>
              <a:srgbClr val="FF000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Barlow"/>
              </a:endParaRPr>
            </a:p>
          </p:txBody>
        </p:sp>
        <p:sp>
          <p:nvSpPr>
            <p:cNvPr id="23" name="Arrow: Striped Right 22">
              <a:extLst>
                <a:ext uri="{FF2B5EF4-FFF2-40B4-BE49-F238E27FC236}">
                  <a16:creationId xmlns:a16="http://schemas.microsoft.com/office/drawing/2014/main" id="{62AF012C-FE0A-C8B7-D203-54A25F35227F}"/>
                </a:ext>
              </a:extLst>
            </p:cNvPr>
            <p:cNvSpPr/>
            <p:nvPr/>
          </p:nvSpPr>
          <p:spPr>
            <a:xfrm rot="1999018">
              <a:off x="9619082" y="2299155"/>
              <a:ext cx="576533" cy="309600"/>
            </a:xfrm>
            <a:prstGeom prst="stripedRightArrow">
              <a:avLst>
                <a:gd name="adj1" fmla="val 54054"/>
                <a:gd name="adj2" fmla="val 71285"/>
              </a:avLst>
            </a:prstGeom>
            <a:solidFill>
              <a:srgbClr val="FF000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Barlow"/>
              </a:endParaRPr>
            </a:p>
          </p:txBody>
        </p:sp>
        <p:sp>
          <p:nvSpPr>
            <p:cNvPr id="24" name="Explosion: 8 Points 23">
              <a:extLst>
                <a:ext uri="{FF2B5EF4-FFF2-40B4-BE49-F238E27FC236}">
                  <a16:creationId xmlns:a16="http://schemas.microsoft.com/office/drawing/2014/main" id="{2FD18145-E116-991D-53D6-5B05B758D9AA}"/>
                </a:ext>
              </a:extLst>
            </p:cNvPr>
            <p:cNvSpPr/>
            <p:nvPr/>
          </p:nvSpPr>
          <p:spPr>
            <a:xfrm>
              <a:off x="10140211" y="2459486"/>
              <a:ext cx="281507" cy="306261"/>
            </a:xfrm>
            <a:prstGeom prst="irregularSeal1">
              <a:avLst/>
            </a:prstGeom>
            <a:solidFill>
              <a:srgbClr val="FF0000">
                <a:alpha val="22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D72A269-BA3A-8BB1-3345-CAE41E12E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49791" y="2557217"/>
              <a:ext cx="436551" cy="250946"/>
            </a:xfrm>
            <a:prstGeom prst="rect">
              <a:avLst/>
            </a:prstGeom>
          </p:spPr>
        </p:pic>
        <p:sp>
          <p:nvSpPr>
            <p:cNvPr id="26" name="Explosion: 8 Points 25">
              <a:extLst>
                <a:ext uri="{FF2B5EF4-FFF2-40B4-BE49-F238E27FC236}">
                  <a16:creationId xmlns:a16="http://schemas.microsoft.com/office/drawing/2014/main" id="{62A8E260-5A52-146E-373C-0E7B89C347CF}"/>
                </a:ext>
              </a:extLst>
            </p:cNvPr>
            <p:cNvSpPr/>
            <p:nvPr/>
          </p:nvSpPr>
          <p:spPr>
            <a:xfrm>
              <a:off x="10475539" y="3871953"/>
              <a:ext cx="281507" cy="306261"/>
            </a:xfrm>
            <a:prstGeom prst="irregularSeal1">
              <a:avLst/>
            </a:prstGeom>
            <a:solidFill>
              <a:srgbClr val="FF0000">
                <a:alpha val="22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9F1F9E0-8A35-2BE0-BC8C-76CDC1A3A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85119" y="3969684"/>
              <a:ext cx="436551" cy="250946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694FA885-4D40-F13C-5725-C597B3292ED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50615" y="2946368"/>
            <a:ext cx="1039188" cy="54124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A7584CB-0BBA-6822-9010-3EF3029EF207}"/>
              </a:ext>
            </a:extLst>
          </p:cNvPr>
          <p:cNvSpPr txBox="1"/>
          <p:nvPr/>
        </p:nvSpPr>
        <p:spPr>
          <a:xfrm rot="12023759">
            <a:off x="9279119" y="2296188"/>
            <a:ext cx="163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   )   )   )   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5F5E86-EE11-CF43-7AB9-E9740E063B89}"/>
              </a:ext>
            </a:extLst>
          </p:cNvPr>
          <p:cNvSpPr txBox="1"/>
          <p:nvPr/>
        </p:nvSpPr>
        <p:spPr>
          <a:xfrm rot="10149553">
            <a:off x="10046435" y="3195154"/>
            <a:ext cx="713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9DEA87-81AE-EF30-CB8A-85922FCC9D96}"/>
              </a:ext>
            </a:extLst>
          </p:cNvPr>
          <p:cNvSpPr txBox="1"/>
          <p:nvPr/>
        </p:nvSpPr>
        <p:spPr>
          <a:xfrm rot="7789041">
            <a:off x="10184602" y="4091533"/>
            <a:ext cx="713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CF758A-FB50-3884-4FC9-71E3129270F0}"/>
              </a:ext>
            </a:extLst>
          </p:cNvPr>
          <p:cNvSpPr txBox="1"/>
          <p:nvPr/>
        </p:nvSpPr>
        <p:spPr>
          <a:xfrm>
            <a:off x="5473706" y="3987617"/>
            <a:ext cx="19352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200" b="1" u="sng" dirty="0">
                <a:solidFill>
                  <a:schemeClr val="bg1"/>
                </a:solidFill>
                <a:latin typeface="Barlow"/>
              </a:rPr>
              <a:t>Convoy</a:t>
            </a:r>
          </a:p>
          <a:p>
            <a:pPr algn="ctr"/>
            <a:r>
              <a:rPr lang="en-SG" sz="1200" dirty="0">
                <a:solidFill>
                  <a:schemeClr val="bg1"/>
                </a:solidFill>
                <a:latin typeface="Barlow"/>
              </a:rPr>
              <a:t>5 x </a:t>
            </a:r>
            <a:r>
              <a:rPr lang="en-SG" sz="1200" dirty="0" err="1">
                <a:solidFill>
                  <a:schemeClr val="bg1"/>
                </a:solidFill>
                <a:latin typeface="Barlow"/>
              </a:rPr>
              <a:t>RoboMaster</a:t>
            </a:r>
            <a:r>
              <a:rPr lang="en-SG" sz="1200" dirty="0">
                <a:solidFill>
                  <a:schemeClr val="bg1"/>
                </a:solidFill>
                <a:latin typeface="Barlow"/>
              </a:rPr>
              <a:t> Ground Robots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38199A-822A-5DDE-76D8-FA3F7F870931}"/>
              </a:ext>
            </a:extLst>
          </p:cNvPr>
          <p:cNvSpPr txBox="1"/>
          <p:nvPr/>
        </p:nvSpPr>
        <p:spPr>
          <a:xfrm>
            <a:off x="389792" y="635004"/>
            <a:ext cx="40847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Challenge Two (cont’d)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72B686-406A-D700-3BFB-3677C7B27797}"/>
              </a:ext>
            </a:extLst>
          </p:cNvPr>
          <p:cNvSpPr txBox="1"/>
          <p:nvPr/>
        </p:nvSpPr>
        <p:spPr>
          <a:xfrm>
            <a:off x="380261" y="1379210"/>
            <a:ext cx="500029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SG" sz="1400" b="1" u="sng" dirty="0">
                <a:latin typeface="Barlow"/>
              </a:rPr>
              <a:t>Gameplay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The convoy will be launched into the drone cage and these robots will loiter for a period of time.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During this time, the team will launch the 3 HULA drones to search for these ground robots.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SG" sz="1400" dirty="0">
              <a:latin typeface="Barlow"/>
            </a:endParaRPr>
          </a:p>
          <a:p>
            <a:pPr algn="just">
              <a:spcBef>
                <a:spcPts val="600"/>
              </a:spcBef>
            </a:pPr>
            <a:r>
              <a:rPr lang="en-SG" sz="1400" b="1" u="sng" dirty="0">
                <a:latin typeface="Barlow"/>
              </a:rPr>
              <a:t>Other rules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During the assessment, 2 ground robots will be controlled by participants from other teams. The other 3 ground robots will travel on autonomously.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Teams will have to print the outputs from the </a:t>
            </a:r>
            <a:r>
              <a:rPr lang="en-SG" sz="1400" dirty="0" err="1">
                <a:latin typeface="Barlow"/>
              </a:rPr>
              <a:t>Aruco</a:t>
            </a:r>
            <a:r>
              <a:rPr lang="en-SG" sz="1400" dirty="0">
                <a:latin typeface="Barlow"/>
              </a:rPr>
              <a:t> marker on the ground robot to represent successful tagging (see image on bottom right).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Teams to inform the judge to indicate that the mission is completed.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SG" sz="1400" dirty="0">
              <a:latin typeface="Barlow"/>
            </a:endParaRPr>
          </a:p>
          <a:p>
            <a:pPr algn="just">
              <a:spcBef>
                <a:spcPts val="600"/>
              </a:spcBef>
            </a:pPr>
            <a:r>
              <a:rPr lang="en-SG" sz="1400" b="1" u="sng" dirty="0">
                <a:latin typeface="Barlow"/>
              </a:rPr>
              <a:t>Evaluation Criteria</a:t>
            </a:r>
            <a:endParaRPr lang="en-SG" sz="1400" dirty="0">
              <a:latin typeface="Barlow"/>
            </a:endParaRP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Points will be awarded for successful and accurate tagging of the ground robots. Teams that complete the task in less time will earn more points.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DF2BD3-B40C-32ED-0601-D88DB1F5B85D}"/>
              </a:ext>
            </a:extLst>
          </p:cNvPr>
          <p:cNvSpPr txBox="1"/>
          <p:nvPr/>
        </p:nvSpPr>
        <p:spPr>
          <a:xfrm>
            <a:off x="10541576" y="3413896"/>
            <a:ext cx="1353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>
                <a:solidFill>
                  <a:schemeClr val="bg1"/>
                </a:solidFill>
                <a:latin typeface="Barlow"/>
              </a:rPr>
              <a:t>Participants’ C2 Terminal</a:t>
            </a:r>
            <a:endParaRPr lang="en-SG" sz="1400" b="1" dirty="0">
              <a:latin typeface="Barlow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17F186D-8DA4-4CD7-B34A-7C1BAD29896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240" t="2022" r="1474" b="1452"/>
          <a:stretch/>
        </p:blipFill>
        <p:spPr>
          <a:xfrm>
            <a:off x="10732130" y="5105939"/>
            <a:ext cx="900113" cy="90963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E3C5F72-2F71-44A6-838B-3C9BAD6D3782}"/>
              </a:ext>
            </a:extLst>
          </p:cNvPr>
          <p:cNvSpPr txBox="1"/>
          <p:nvPr/>
        </p:nvSpPr>
        <p:spPr>
          <a:xfrm>
            <a:off x="10640141" y="5408242"/>
            <a:ext cx="1071946" cy="2769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SG" sz="1200" b="1" dirty="0">
                <a:solidFill>
                  <a:schemeClr val="bg1"/>
                </a:solidFill>
                <a:latin typeface="Barlow"/>
              </a:rPr>
              <a:t>ID number</a:t>
            </a:r>
          </a:p>
        </p:txBody>
      </p:sp>
    </p:spTree>
    <p:extLst>
      <p:ext uri="{BB962C8B-B14F-4D97-AF65-F5344CB8AC3E}">
        <p14:creationId xmlns:p14="http://schemas.microsoft.com/office/powerpoint/2010/main" val="1343183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074BFE73-54F0-0D09-CFC7-2F16DDBE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53C1C-53A0-670A-647D-2FFA984069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" y="-1"/>
            <a:ext cx="12184333" cy="6862317"/>
          </a:xfrm>
          <a:prstGeom prst="rect">
            <a:avLst/>
          </a:prstGeom>
        </p:spPr>
      </p:pic>
      <p:sp>
        <p:nvSpPr>
          <p:cNvPr id="2" name="Google Shape;162;p37">
            <a:extLst>
              <a:ext uri="{FF2B5EF4-FFF2-40B4-BE49-F238E27FC236}">
                <a16:creationId xmlns:a16="http://schemas.microsoft.com/office/drawing/2014/main" id="{150562C4-6131-FEF1-3782-FDC0380708CB}"/>
              </a:ext>
            </a:extLst>
          </p:cNvPr>
          <p:cNvSpPr txBox="1"/>
          <p:nvPr/>
        </p:nvSpPr>
        <p:spPr>
          <a:xfrm>
            <a:off x="908742" y="1690577"/>
            <a:ext cx="6724800" cy="2923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70000"/>
              </a:lnSpc>
              <a:buClr>
                <a:srgbClr val="000000"/>
              </a:buClr>
            </a:pPr>
            <a:r>
              <a:rPr lang="en-SG" sz="6400" kern="0" dirty="0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SCORING RUBRICS</a:t>
            </a:r>
            <a:endParaRPr sz="6400" kern="0" dirty="0">
              <a:solidFill>
                <a:srgbClr val="FFFFFF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8A6DF-1486-430C-83F9-C0937B691F6B}"/>
              </a:ext>
            </a:extLst>
          </p:cNvPr>
          <p:cNvSpPr/>
          <p:nvPr/>
        </p:nvSpPr>
        <p:spPr>
          <a:xfrm>
            <a:off x="10893669" y="6484407"/>
            <a:ext cx="817685" cy="36927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66546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-240631"/>
            <a:ext cx="12192000" cy="6858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A7584CB-0BBA-6822-9010-3EF3029EF207}"/>
              </a:ext>
            </a:extLst>
          </p:cNvPr>
          <p:cNvSpPr txBox="1"/>
          <p:nvPr/>
        </p:nvSpPr>
        <p:spPr>
          <a:xfrm rot="12023759">
            <a:off x="8971111" y="2363565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   )   )   )   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5F5E86-EE11-CF43-7AB9-E9740E063B89}"/>
              </a:ext>
            </a:extLst>
          </p:cNvPr>
          <p:cNvSpPr txBox="1"/>
          <p:nvPr/>
        </p:nvSpPr>
        <p:spPr>
          <a:xfrm rot="10149553">
            <a:off x="9738427" y="3262531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9DEA87-81AE-EF30-CB8A-85922FCC9D96}"/>
              </a:ext>
            </a:extLst>
          </p:cNvPr>
          <p:cNvSpPr txBox="1"/>
          <p:nvPr/>
        </p:nvSpPr>
        <p:spPr>
          <a:xfrm rot="7789041">
            <a:off x="9876594" y="415891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38199A-822A-5DDE-76D8-FA3F7F870931}"/>
              </a:ext>
            </a:extLst>
          </p:cNvPr>
          <p:cNvSpPr txBox="1"/>
          <p:nvPr/>
        </p:nvSpPr>
        <p:spPr>
          <a:xfrm>
            <a:off x="389792" y="635004"/>
            <a:ext cx="277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Scoring Rubrics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72B686-406A-D700-3BFB-3677C7B27797}"/>
              </a:ext>
            </a:extLst>
          </p:cNvPr>
          <p:cNvSpPr txBox="1"/>
          <p:nvPr/>
        </p:nvSpPr>
        <p:spPr>
          <a:xfrm>
            <a:off x="335042" y="1656416"/>
            <a:ext cx="2753020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</a:pPr>
            <a:r>
              <a:rPr lang="en-SG" sz="1600" b="1" u="sng" dirty="0">
                <a:latin typeface="Barlow"/>
              </a:rPr>
              <a:t>Judging Criteria</a:t>
            </a:r>
          </a:p>
          <a:p>
            <a:pPr marL="28575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Teams will be scored based on their overall ranking </a:t>
            </a:r>
          </a:p>
          <a:p>
            <a:pPr marL="28575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The ranking will be done based on the performance in each aspect </a:t>
            </a:r>
          </a:p>
          <a:p>
            <a:pPr marL="28575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For S/N 1, 3 &amp; 4, the priority will be in sequence (1, 2, 3).</a:t>
            </a:r>
          </a:p>
          <a:p>
            <a:pPr marL="285750" indent="-28575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To register the completion of Counter UAS tech showcase </a:t>
            </a:r>
            <a:r>
              <a:rPr lang="en-SG" sz="1600" dirty="0">
                <a:latin typeface="Barlow"/>
                <a:sym typeface="Wingdings" panose="05000000000000000000" pitchFamily="2" charset="2"/>
              </a:rPr>
              <a:t> (Refer to next slide)</a:t>
            </a:r>
            <a:endParaRPr lang="en-SG" sz="1600" dirty="0">
              <a:latin typeface="Barlow"/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2E65D0DD-F84A-429B-90BB-8496EE06A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429852"/>
              </p:ext>
            </p:extLst>
          </p:nvPr>
        </p:nvGraphicFramePr>
        <p:xfrm>
          <a:off x="3554318" y="794746"/>
          <a:ext cx="7928600" cy="5369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4133">
                  <a:extLst>
                    <a:ext uri="{9D8B030D-6E8A-4147-A177-3AD203B41FA5}">
                      <a16:colId xmlns:a16="http://schemas.microsoft.com/office/drawing/2014/main" val="2542938830"/>
                    </a:ext>
                  </a:extLst>
                </a:gridCol>
                <a:gridCol w="6000467">
                  <a:extLst>
                    <a:ext uri="{9D8B030D-6E8A-4147-A177-3AD203B41FA5}">
                      <a16:colId xmlns:a16="http://schemas.microsoft.com/office/drawing/2014/main" val="1733088819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465881027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372137183"/>
                    </a:ext>
                  </a:extLst>
                </a:gridCol>
              </a:tblGrid>
              <a:tr h="293985">
                <a:tc rowSpan="2" gridSpan="2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0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fontAlgn="b">
                        <a:spcBef>
                          <a:spcPts val="600"/>
                        </a:spcBef>
                      </a:pPr>
                      <a:endParaRPr lang="en-SG" sz="1500" b="0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1" u="none" strike="noStrike" dirty="0">
                          <a:solidFill>
                            <a:srgbClr val="000000"/>
                          </a:solidFill>
                          <a:effectLst/>
                          <a:latin typeface="Barlow"/>
                        </a:rPr>
                        <a:t>Weightage</a:t>
                      </a:r>
                      <a:endParaRPr lang="en-SG" sz="1500" b="1" i="0" u="none" strike="noStrike" dirty="0">
                        <a:solidFill>
                          <a:srgbClr val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FAF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1" i="0" u="none" strike="noStrike" dirty="0">
                        <a:solidFill>
                          <a:srgbClr val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160394"/>
                  </a:ext>
                </a:extLst>
              </a:tr>
              <a:tr h="293985">
                <a:tc gridSpan="2"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>
                        <a:spcBef>
                          <a:spcPts val="600"/>
                        </a:spcBef>
                      </a:pPr>
                      <a:endParaRPr lang="en-SG" sz="1500" b="0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Uni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Pre-Uni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747550"/>
                  </a:ext>
                </a:extLst>
              </a:tr>
              <a:tr h="293985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arlow"/>
                        </a:rPr>
                        <a:t>S/N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arlow"/>
                        </a:rPr>
                        <a:t>Challenge 1</a:t>
                      </a:r>
                      <a:endParaRPr lang="en-SG" sz="15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677395"/>
                  </a:ext>
                </a:extLst>
              </a:tr>
              <a:tr h="105569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1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22313" marR="0" lvl="0" indent="-539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SG" sz="150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Number of landing pads detected (Image recognition)</a:t>
                      </a:r>
                    </a:p>
                    <a:p>
                      <a:pPr marL="722313" marR="0" lvl="0" indent="-539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SG" sz="150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Number of landing points verified (</a:t>
                      </a:r>
                      <a:r>
                        <a:rPr lang="en-SG" sz="1500" u="none" strike="noStrike" dirty="0" err="1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Aruco</a:t>
                      </a:r>
                      <a:r>
                        <a:rPr lang="en-SG" sz="150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 marker)</a:t>
                      </a:r>
                    </a:p>
                    <a:p>
                      <a:pPr marL="722313" marR="0" lvl="0" indent="-539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Timing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15%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NA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515553"/>
                  </a:ext>
                </a:extLst>
              </a:tr>
              <a:tr h="57963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2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560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SG" sz="150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Accuracy of distance of obstacles/landing pads from reference point (using depth map)</a:t>
                      </a:r>
                      <a:endParaRPr lang="en-SG" sz="1500" b="0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0" i="0" u="none" strike="noStrike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15%</a:t>
                      </a:r>
                      <a:endParaRPr lang="en-SG" sz="1500" b="0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0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784832"/>
                  </a:ext>
                </a:extLst>
              </a:tr>
              <a:tr h="293985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arlow"/>
                        </a:rPr>
                        <a:t>Challenge 2</a:t>
                      </a:r>
                      <a:endParaRPr lang="en-SG" sz="15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771915"/>
                  </a:ext>
                </a:extLst>
              </a:tr>
              <a:tr h="691387">
                <a:tc>
                  <a:txBody>
                    <a:bodyPr/>
                    <a:lstStyle/>
                    <a:p>
                      <a:pPr marL="0" indent="0" algn="ctr" fontAlgn="b">
                        <a:spcBef>
                          <a:spcPts val="600"/>
                        </a:spcBef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3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22313" indent="-539750" algn="l" fontAlgn="b">
                        <a:spcBef>
                          <a:spcPts val="600"/>
                        </a:spcBef>
                        <a:buClr>
                          <a:schemeClr val="tx1"/>
                        </a:buClr>
                        <a:buFont typeface="+mj-lt"/>
                        <a:buAutoNum type="arabicPeriod"/>
                      </a:pPr>
                      <a:r>
                        <a:rPr lang="en-SG" sz="15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rlow"/>
                          <a:ea typeface="+mn-ea"/>
                          <a:cs typeface="+mn-cs"/>
                          <a:sym typeface="Arial"/>
                        </a:rPr>
                        <a:t>Number</a:t>
                      </a:r>
                      <a:r>
                        <a:rPr lang="en-SG" sz="150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 of landings within hoop</a:t>
                      </a:r>
                    </a:p>
                    <a:p>
                      <a:pPr marL="722313" indent="-539750" algn="l" fontAlgn="b">
                        <a:spcBef>
                          <a:spcPts val="600"/>
                        </a:spcBef>
                        <a:buClr>
                          <a:schemeClr val="tx1"/>
                        </a:buClr>
                        <a:buFont typeface="+mj-lt"/>
                        <a:buAutoNum type="arabicPeriod"/>
                      </a:pPr>
                      <a:r>
                        <a:rPr lang="en-SG" sz="150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Timing</a:t>
                      </a:r>
                      <a:endParaRPr lang="en-SG" sz="1500" b="0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</a:pPr>
                      <a:r>
                        <a:rPr lang="en-SG" sz="150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30%</a:t>
                      </a:r>
                      <a:endParaRPr lang="en-SG" sz="1500" b="0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96115" marR="96115" marT="48057" marB="480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44%</a:t>
                      </a:r>
                    </a:p>
                  </a:txBody>
                  <a:tcPr marL="96115" marR="96115" marT="48057" marB="480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319664"/>
                  </a:ext>
                </a:extLst>
              </a:tr>
              <a:tr h="293985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arlow"/>
                        </a:rPr>
                        <a:t>Challenge 2 (cont’d)</a:t>
                      </a:r>
                      <a:endParaRPr lang="en-SG" sz="15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618338"/>
                  </a:ext>
                </a:extLst>
              </a:tr>
              <a:tr h="691387">
                <a:tc>
                  <a:txBody>
                    <a:bodyPr/>
                    <a:lstStyle/>
                    <a:p>
                      <a:pPr marL="0" indent="0" algn="ctr" fontAlgn="b">
                        <a:spcBef>
                          <a:spcPts val="600"/>
                        </a:spcBef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4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22313" indent="-539750" algn="l" fontAlgn="b">
                        <a:spcBef>
                          <a:spcPts val="600"/>
                        </a:spcBef>
                        <a:buClr>
                          <a:schemeClr val="tx1"/>
                        </a:buClr>
                        <a:buFont typeface="+mj-lt"/>
                        <a:buAutoNum type="arabicPeriod"/>
                      </a:pPr>
                      <a:r>
                        <a:rPr lang="en-SG" sz="150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Number of </a:t>
                      </a:r>
                      <a:r>
                        <a:rPr lang="en-SG" sz="1500" u="none" strike="noStrike" dirty="0" err="1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Aruco</a:t>
                      </a:r>
                      <a:r>
                        <a:rPr lang="en-SG" sz="150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 detections</a:t>
                      </a:r>
                    </a:p>
                    <a:p>
                      <a:pPr marL="722313" indent="-539750" algn="l" fontAlgn="b">
                        <a:spcBef>
                          <a:spcPts val="600"/>
                        </a:spcBef>
                        <a:buClr>
                          <a:schemeClr val="tx1"/>
                        </a:buClr>
                        <a:buFont typeface="+mj-lt"/>
                        <a:buAutoNum type="arabicPeriod"/>
                      </a:pPr>
                      <a:r>
                        <a:rPr lang="en-SG" sz="150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Timing</a:t>
                      </a:r>
                      <a:endParaRPr lang="en-SG" sz="1500" b="0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</a:pPr>
                      <a:r>
                        <a:rPr lang="en-SG" sz="150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30%</a:t>
                      </a:r>
                      <a:endParaRPr lang="en-SG" sz="1500" b="0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96115" marR="96115" marT="48057" marB="480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44%</a:t>
                      </a:r>
                    </a:p>
                  </a:txBody>
                  <a:tcPr marL="96115" marR="96115" marT="48057" marB="480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270716"/>
                  </a:ext>
                </a:extLst>
              </a:tr>
              <a:tr h="293985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1" i="0" u="none" strike="noStrike" dirty="0">
                        <a:solidFill>
                          <a:srgbClr val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Barlow"/>
                        </a:rPr>
                        <a:t>Bonus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1" i="0" u="none" strike="noStrike" dirty="0">
                        <a:solidFill>
                          <a:srgbClr val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500" b="1" i="0" u="none" strike="noStrike" dirty="0">
                        <a:solidFill>
                          <a:srgbClr val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318208"/>
                  </a:ext>
                </a:extLst>
              </a:tr>
              <a:tr h="293985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5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55600" indent="0" algn="l" fontAlgn="b">
                        <a:spcBef>
                          <a:spcPts val="600"/>
                        </a:spcBef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Completion of Counter UAS tech showcase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SG" sz="1500" dirty="0">
                          <a:latin typeface="Barlow"/>
                        </a:rPr>
                        <a:t>4%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SG" sz="1500" dirty="0">
                          <a:latin typeface="Barlow"/>
                        </a:rPr>
                        <a:t>4%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955458"/>
                  </a:ext>
                </a:extLst>
              </a:tr>
              <a:tr h="293985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6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55600" indent="0" algn="l" fontAlgn="b">
                        <a:spcBef>
                          <a:spcPts val="600"/>
                        </a:spcBef>
                      </a:pPr>
                      <a:r>
                        <a:rPr lang="en-SG" sz="150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Overall concept explanation</a:t>
                      </a:r>
                      <a:endParaRPr lang="en-SG" sz="1500" b="0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7%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8%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842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521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638199A-822A-5DDE-76D8-FA3F7F870931}"/>
              </a:ext>
            </a:extLst>
          </p:cNvPr>
          <p:cNvSpPr txBox="1"/>
          <p:nvPr/>
        </p:nvSpPr>
        <p:spPr>
          <a:xfrm>
            <a:off x="389792" y="635004"/>
            <a:ext cx="6611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Bonus Points for CUAS Tech Showcase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F616D1-3C65-4084-9355-72ABD1AFF8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480" y="1445304"/>
            <a:ext cx="2396518" cy="5185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86BD15-27CB-4804-B397-06C7923214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737" y="1444087"/>
            <a:ext cx="2396518" cy="51859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E71DF5C-4E0E-4C7B-A653-C21CA1A5AB72}"/>
              </a:ext>
            </a:extLst>
          </p:cNvPr>
          <p:cNvSpPr txBox="1"/>
          <p:nvPr/>
        </p:nvSpPr>
        <p:spPr>
          <a:xfrm>
            <a:off x="1115821" y="2113656"/>
            <a:ext cx="38759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SG" sz="1600" b="1" u="sng" dirty="0">
                <a:latin typeface="Barlow"/>
              </a:rPr>
              <a:t>Steps</a:t>
            </a:r>
            <a:endParaRPr lang="en-SG" sz="1600" b="1" dirty="0">
              <a:latin typeface="Barlow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SG" sz="1600" dirty="0">
                <a:latin typeface="Barlow"/>
              </a:rPr>
              <a:t>Head to the Counter UAS Tech Showcase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SG" sz="1600" dirty="0">
                <a:latin typeface="Barlow"/>
              </a:rPr>
              <a:t>Counter UAS booth is in the first zone – Above &amp; Beyond: Skies &amp; Space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SG" sz="1600" dirty="0">
                <a:latin typeface="Barlow"/>
              </a:rPr>
              <a:t>Complete the task on the Brainhack Frontier Exploration System (see image)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991344-C2D4-4DD4-95A6-1D0E4D4731CC}"/>
              </a:ext>
            </a:extLst>
          </p:cNvPr>
          <p:cNvSpPr txBox="1"/>
          <p:nvPr/>
        </p:nvSpPr>
        <p:spPr>
          <a:xfrm>
            <a:off x="476801" y="4333123"/>
            <a:ext cx="515397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SG" sz="1600" b="1" u="sng" dirty="0">
                <a:latin typeface="Barlow"/>
              </a:rPr>
              <a:t>Criteria</a:t>
            </a:r>
            <a:endParaRPr lang="en-SG" sz="1600" b="1" dirty="0">
              <a:latin typeface="Barlow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SG" sz="1600" dirty="0">
                <a:latin typeface="Barlow"/>
              </a:rPr>
              <a:t>Snap a picture of the Drone at the Counter UAS booth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SG" sz="1600" dirty="0">
                <a:latin typeface="Barlow"/>
              </a:rPr>
              <a:t>Screenshot of the zone explored page (see image)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C56A2-AD17-4081-BC8F-61830A85553E}"/>
              </a:ext>
            </a:extLst>
          </p:cNvPr>
          <p:cNvSpPr/>
          <p:nvPr/>
        </p:nvSpPr>
        <p:spPr>
          <a:xfrm>
            <a:off x="9278754" y="3128211"/>
            <a:ext cx="2107932" cy="76039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7360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074BFE73-54F0-0D09-CFC7-2F16DDBE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53C1C-53A0-670A-647D-2FFA984069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" y="-1"/>
            <a:ext cx="12184333" cy="6862317"/>
          </a:xfrm>
          <a:prstGeom prst="rect">
            <a:avLst/>
          </a:prstGeom>
        </p:spPr>
      </p:pic>
      <p:sp>
        <p:nvSpPr>
          <p:cNvPr id="2" name="Google Shape;162;p37">
            <a:extLst>
              <a:ext uri="{FF2B5EF4-FFF2-40B4-BE49-F238E27FC236}">
                <a16:creationId xmlns:a16="http://schemas.microsoft.com/office/drawing/2014/main" id="{150562C4-6131-FEF1-3782-FDC0380708CB}"/>
              </a:ext>
            </a:extLst>
          </p:cNvPr>
          <p:cNvSpPr txBox="1"/>
          <p:nvPr/>
        </p:nvSpPr>
        <p:spPr>
          <a:xfrm>
            <a:off x="908742" y="1690577"/>
            <a:ext cx="6724800" cy="2923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70000"/>
              </a:lnSpc>
              <a:buClr>
                <a:srgbClr val="000000"/>
              </a:buClr>
            </a:pPr>
            <a:r>
              <a:rPr lang="en-SG" sz="6400" kern="0" dirty="0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SCHEDULE</a:t>
            </a:r>
            <a:endParaRPr sz="6400" kern="0" dirty="0">
              <a:solidFill>
                <a:srgbClr val="FFFFFF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8A6DF-1486-430C-83F9-C0937B691F6B}"/>
              </a:ext>
            </a:extLst>
          </p:cNvPr>
          <p:cNvSpPr/>
          <p:nvPr/>
        </p:nvSpPr>
        <p:spPr>
          <a:xfrm>
            <a:off x="10893669" y="6484407"/>
            <a:ext cx="817685" cy="36927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3479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A7584CB-0BBA-6822-9010-3EF3029EF207}"/>
              </a:ext>
            </a:extLst>
          </p:cNvPr>
          <p:cNvSpPr txBox="1"/>
          <p:nvPr/>
        </p:nvSpPr>
        <p:spPr>
          <a:xfrm rot="12023759">
            <a:off x="8971111" y="2363565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   )   )   )   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5F5E86-EE11-CF43-7AB9-E9740E063B89}"/>
              </a:ext>
            </a:extLst>
          </p:cNvPr>
          <p:cNvSpPr txBox="1"/>
          <p:nvPr/>
        </p:nvSpPr>
        <p:spPr>
          <a:xfrm rot="10149553">
            <a:off x="9738427" y="3262531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9DEA87-81AE-EF30-CB8A-85922FCC9D96}"/>
              </a:ext>
            </a:extLst>
          </p:cNvPr>
          <p:cNvSpPr txBox="1"/>
          <p:nvPr/>
        </p:nvSpPr>
        <p:spPr>
          <a:xfrm rot="7789041">
            <a:off x="9876594" y="415891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38199A-822A-5DDE-76D8-FA3F7F870931}"/>
              </a:ext>
            </a:extLst>
          </p:cNvPr>
          <p:cNvSpPr txBox="1"/>
          <p:nvPr/>
        </p:nvSpPr>
        <p:spPr>
          <a:xfrm>
            <a:off x="389792" y="635004"/>
            <a:ext cx="1723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Schedule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2E65D0DD-F84A-429B-90BB-8496EE06A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889403"/>
              </p:ext>
            </p:extLst>
          </p:nvPr>
        </p:nvGraphicFramePr>
        <p:xfrm>
          <a:off x="1804772" y="1147449"/>
          <a:ext cx="8582451" cy="4445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1069">
                  <a:extLst>
                    <a:ext uri="{9D8B030D-6E8A-4147-A177-3AD203B41FA5}">
                      <a16:colId xmlns:a16="http://schemas.microsoft.com/office/drawing/2014/main" val="1733088819"/>
                    </a:ext>
                  </a:extLst>
                </a:gridCol>
                <a:gridCol w="2945331">
                  <a:extLst>
                    <a:ext uri="{9D8B030D-6E8A-4147-A177-3AD203B41FA5}">
                      <a16:colId xmlns:a16="http://schemas.microsoft.com/office/drawing/2014/main" val="2241079009"/>
                    </a:ext>
                  </a:extLst>
                </a:gridCol>
                <a:gridCol w="3996051">
                  <a:extLst>
                    <a:ext uri="{9D8B030D-6E8A-4147-A177-3AD203B41FA5}">
                      <a16:colId xmlns:a16="http://schemas.microsoft.com/office/drawing/2014/main" val="1592628811"/>
                    </a:ext>
                  </a:extLst>
                </a:gridCol>
              </a:tblGrid>
              <a:tr h="370434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endParaRPr lang="en-SG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b="1" dirty="0">
                          <a:latin typeface="Barlow"/>
                        </a:rPr>
                        <a:t>University Teams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800" b="1" dirty="0">
                          <a:latin typeface="Barlow"/>
                        </a:rPr>
                        <a:t>Pre-University Teams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086497"/>
                  </a:ext>
                </a:extLst>
              </a:tr>
              <a:tr h="370434">
                <a:tc gridSpan="3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arlow"/>
                        </a:rPr>
                        <a:t>Day 1</a:t>
                      </a:r>
                      <a:endParaRPr lang="en-SG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11677395"/>
                  </a:ext>
                </a:extLst>
              </a:tr>
              <a:tr h="37043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0930 - 1030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Briefing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lang="en-SG" sz="1800" b="1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515553"/>
                  </a:ext>
                </a:extLst>
              </a:tr>
              <a:tr h="37043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1030 - 1200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Testing </a:t>
                      </a:r>
                      <a:r>
                        <a:rPr lang="en-SG" sz="1800" b="1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#</a:t>
                      </a:r>
                      <a:endParaRPr lang="en-SG" sz="1800" b="1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lang="en-SG" sz="1800" b="1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784832"/>
                  </a:ext>
                </a:extLst>
              </a:tr>
              <a:tr h="370434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1200 - 1300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Lunch (no testing)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spcBef>
                          <a:spcPts val="600"/>
                        </a:spcBef>
                      </a:pPr>
                      <a:endParaRPr lang="en-SG" sz="1800" b="1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496857"/>
                  </a:ext>
                </a:extLst>
              </a:tr>
              <a:tr h="370434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1300 - 1330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Testing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spcBef>
                          <a:spcPts val="600"/>
                        </a:spcBef>
                      </a:pPr>
                      <a:endParaRPr lang="en-SG" sz="1800" b="1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900500"/>
                  </a:ext>
                </a:extLst>
              </a:tr>
              <a:tr h="370434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1330 - 1430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Prep for Challenge 1 </a:t>
                      </a:r>
                      <a:r>
                        <a:rPr lang="en-SG" sz="1800" b="1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*</a:t>
                      </a:r>
                      <a:endParaRPr lang="en-SG" sz="1800" b="1" i="0" u="none" strike="noStrike" dirty="0">
                        <a:solidFill>
                          <a:schemeClr val="tx1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Testing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059479"/>
                  </a:ext>
                </a:extLst>
              </a:tr>
              <a:tr h="370434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1430 - 1800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Challenge 1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Testing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220394"/>
                  </a:ext>
                </a:extLst>
              </a:tr>
              <a:tr h="370434">
                <a:tc gridSpan="3"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800" b="1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arlow"/>
                        </a:rPr>
                        <a:t>Day 2</a:t>
                      </a:r>
                      <a:endParaRPr lang="en-SG" sz="18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arlow"/>
                      </a:endParaRP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1771915"/>
                  </a:ext>
                </a:extLst>
              </a:tr>
              <a:tr h="370434">
                <a:tc>
                  <a:txBody>
                    <a:bodyPr/>
                    <a:lstStyle/>
                    <a:p>
                      <a:pPr marL="0" indent="0" algn="ctr" fontAlgn="b">
                        <a:spcBef>
                          <a:spcPts val="600"/>
                        </a:spcBef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0900 - 1230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b">
                        <a:spcBef>
                          <a:spcPts val="600"/>
                        </a:spcBef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Testing</a:t>
                      </a:r>
                    </a:p>
                  </a:txBody>
                  <a:tcPr marL="96115" marR="96115" marT="48057" marB="480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26319664"/>
                  </a:ext>
                </a:extLst>
              </a:tr>
              <a:tr h="370434">
                <a:tc>
                  <a:txBody>
                    <a:bodyPr/>
                    <a:lstStyle/>
                    <a:p>
                      <a:pPr marL="0" indent="0" algn="ctr" fontAlgn="b">
                        <a:spcBef>
                          <a:spcPts val="600"/>
                        </a:spcBef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1230 - 1330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b">
                        <a:spcBef>
                          <a:spcPts val="600"/>
                        </a:spcBef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Lunch (no testing)</a:t>
                      </a:r>
                    </a:p>
                  </a:txBody>
                  <a:tcPr marL="96115" marR="96115" marT="48057" marB="480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6710006"/>
                  </a:ext>
                </a:extLst>
              </a:tr>
              <a:tr h="370434">
                <a:tc>
                  <a:txBody>
                    <a:bodyPr/>
                    <a:lstStyle/>
                    <a:p>
                      <a:pPr marL="0" indent="0" algn="ctr" fontAlgn="b">
                        <a:spcBef>
                          <a:spcPts val="600"/>
                        </a:spcBef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1330 - 1600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b">
                        <a:spcBef>
                          <a:spcPts val="600"/>
                        </a:spcBef>
                        <a:buClr>
                          <a:schemeClr val="tx1"/>
                        </a:buClr>
                        <a:buFont typeface="+mj-lt"/>
                        <a:buNone/>
                      </a:pPr>
                      <a:r>
                        <a:rPr lang="en-SG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Barlow"/>
                        </a:rPr>
                        <a:t>Challenge 2</a:t>
                      </a:r>
                    </a:p>
                  </a:txBody>
                  <a:tcPr marL="96115" marR="96115" marT="48057" marB="480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673176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FFC7277-7BD5-49F1-BBB1-45BECE4D5D88}"/>
              </a:ext>
            </a:extLst>
          </p:cNvPr>
          <p:cNvSpPr txBox="1"/>
          <p:nvPr/>
        </p:nvSpPr>
        <p:spPr>
          <a:xfrm>
            <a:off x="1752810" y="5809830"/>
            <a:ext cx="868637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SG" sz="1600" b="1" u="sng" dirty="0">
                <a:latin typeface="Barlow"/>
              </a:rPr>
              <a:t>Note</a:t>
            </a:r>
            <a:endParaRPr lang="en-SG" sz="1600" b="1" dirty="0">
              <a:latin typeface="Barlow"/>
            </a:endParaRPr>
          </a:p>
          <a:p>
            <a:pPr algn="just"/>
            <a:r>
              <a:rPr lang="en-SG" sz="1600" b="1" dirty="0">
                <a:latin typeface="Barlow"/>
              </a:rPr>
              <a:t>#</a:t>
            </a:r>
            <a:r>
              <a:rPr lang="en-SG" sz="1600" dirty="0">
                <a:latin typeface="Barlow"/>
              </a:rPr>
              <a:t>	University teams can choose to test either the Hula or Mapping Drone before 1330H.</a:t>
            </a:r>
          </a:p>
          <a:p>
            <a:pPr algn="just"/>
            <a:r>
              <a:rPr lang="en-SG" sz="1600" b="1" dirty="0">
                <a:latin typeface="Barlow"/>
              </a:rPr>
              <a:t>*</a:t>
            </a:r>
            <a:r>
              <a:rPr lang="en-SG" sz="1600" dirty="0">
                <a:latin typeface="Barlow"/>
              </a:rPr>
              <a:t>	No flying of the Mapping drone between 1330 – 1430H on day 1.</a:t>
            </a:r>
          </a:p>
        </p:txBody>
      </p:sp>
    </p:spTree>
    <p:extLst>
      <p:ext uri="{BB962C8B-B14F-4D97-AF65-F5344CB8AC3E}">
        <p14:creationId xmlns:p14="http://schemas.microsoft.com/office/powerpoint/2010/main" val="1294638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638199A-822A-5DDE-76D8-FA3F7F870931}"/>
              </a:ext>
            </a:extLst>
          </p:cNvPr>
          <p:cNvSpPr txBox="1"/>
          <p:nvPr/>
        </p:nvSpPr>
        <p:spPr>
          <a:xfrm>
            <a:off x="389792" y="635004"/>
            <a:ext cx="6035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Order of Assessment (Challenge 1)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ED1AAA-6D74-4F3D-A0E9-CF3518D47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122522"/>
              </p:ext>
            </p:extLst>
          </p:nvPr>
        </p:nvGraphicFramePr>
        <p:xfrm>
          <a:off x="3712950" y="1702907"/>
          <a:ext cx="4751782" cy="39855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1233">
                  <a:extLst>
                    <a:ext uri="{9D8B030D-6E8A-4147-A177-3AD203B41FA5}">
                      <a16:colId xmlns:a16="http://schemas.microsoft.com/office/drawing/2014/main" val="3914771357"/>
                    </a:ext>
                  </a:extLst>
                </a:gridCol>
                <a:gridCol w="3300549">
                  <a:extLst>
                    <a:ext uri="{9D8B030D-6E8A-4147-A177-3AD203B41FA5}">
                      <a16:colId xmlns:a16="http://schemas.microsoft.com/office/drawing/2014/main" val="17330888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Barlow"/>
                        </a:rPr>
                        <a:t>Sequence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Barlow"/>
                        </a:rPr>
                        <a:t>Testing Team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677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4FINGERS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515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AAA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647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ARTIFICIALLYUNINTELLIGENT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323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BOYD BUDDIES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792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CALIBRUH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368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FLYINGEXPLORERS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93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GUIS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737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HALLUCINATORS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112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KAUSHIK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843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MASTERBYTERS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20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420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784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SARA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389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SCRT3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848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929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STINKIES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319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YANG WEI INDUSTRIES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270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843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638199A-822A-5DDE-76D8-FA3F7F870931}"/>
              </a:ext>
            </a:extLst>
          </p:cNvPr>
          <p:cNvSpPr txBox="1"/>
          <p:nvPr/>
        </p:nvSpPr>
        <p:spPr>
          <a:xfrm>
            <a:off x="389792" y="635004"/>
            <a:ext cx="60352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Order of Assessment (Challenge 2)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ED1AAA-6D74-4F3D-A0E9-CF3518D47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514982"/>
              </p:ext>
            </p:extLst>
          </p:nvPr>
        </p:nvGraphicFramePr>
        <p:xfrm>
          <a:off x="1817579" y="1272030"/>
          <a:ext cx="8225916" cy="55210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1381">
                  <a:extLst>
                    <a:ext uri="{9D8B030D-6E8A-4147-A177-3AD203B41FA5}">
                      <a16:colId xmlns:a16="http://schemas.microsoft.com/office/drawing/2014/main" val="3914771357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1733088819"/>
                    </a:ext>
                  </a:extLst>
                </a:gridCol>
                <a:gridCol w="3459815">
                  <a:extLst>
                    <a:ext uri="{9D8B030D-6E8A-4147-A177-3AD203B41FA5}">
                      <a16:colId xmlns:a16="http://schemas.microsoft.com/office/drawing/2014/main" val="40435679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Barlow"/>
                        </a:rPr>
                        <a:t>Sequence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Barlow"/>
                        </a:rPr>
                        <a:t>Testing Team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3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Barlow"/>
                        </a:rPr>
                        <a:t>Robomaster</a:t>
                      </a:r>
                      <a:r>
                        <a:rPr lang="en-SG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Barlow"/>
                        </a:rPr>
                        <a:t> Opponent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677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4FINGERS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SARA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515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AAA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SCRT3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647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ARTIFICIALLYUNINTELLIGENT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323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BOYD BUDDIES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STINKIES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792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CALIBRUH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YANG WEI INDUSTRIES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368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FLYINGEXPLORERS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93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GUIS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737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HALLUCINATORS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112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KAUSHIK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ROYAL RECRUITS 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843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MASTERBYTERS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SAMABEENHACKING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120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SO WHAT THE TEAM NAME GON BE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420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THE WIENERS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784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SARA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UNTITLED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389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SCRT3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WANNABENGINEERS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48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929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STINKIES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319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YANG WEI INDUSTRIES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MASTERBYTERS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270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18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KAUSHIK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955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19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HALLUCINATORS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842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GUIS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982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21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ROYAL RECRUITS 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FLYINGEXPLORERS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063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SAMABEENHACKING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CALIBRUH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830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SO WHAT THE TEAM NAME GON BE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BOYD BUDDIES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630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24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THE WIENERS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ARTIFICIALLYUNINTELLIGENT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560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25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UNTITLED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AAA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864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26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WANNABENGINEERS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4FINGERS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075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464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074BFE73-54F0-0D09-CFC7-2F16DDBE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53C1C-53A0-670A-647D-2FFA984069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" y="-1"/>
            <a:ext cx="12184333" cy="6862317"/>
          </a:xfrm>
          <a:prstGeom prst="rect">
            <a:avLst/>
          </a:prstGeom>
        </p:spPr>
      </p:pic>
      <p:sp>
        <p:nvSpPr>
          <p:cNvPr id="2" name="Google Shape;162;p37">
            <a:extLst>
              <a:ext uri="{FF2B5EF4-FFF2-40B4-BE49-F238E27FC236}">
                <a16:creationId xmlns:a16="http://schemas.microsoft.com/office/drawing/2014/main" id="{150562C4-6131-FEF1-3782-FDC0380708CB}"/>
              </a:ext>
            </a:extLst>
          </p:cNvPr>
          <p:cNvSpPr txBox="1"/>
          <p:nvPr/>
        </p:nvSpPr>
        <p:spPr>
          <a:xfrm>
            <a:off x="908742" y="1690577"/>
            <a:ext cx="6724800" cy="2923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70000"/>
              </a:lnSpc>
              <a:buClr>
                <a:srgbClr val="000000"/>
              </a:buClr>
            </a:pPr>
            <a:r>
              <a:rPr lang="en-SG" sz="6400" kern="0" dirty="0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TESTING REGULATIONS</a:t>
            </a:r>
            <a:endParaRPr sz="6400" kern="0" dirty="0">
              <a:solidFill>
                <a:srgbClr val="FFFFFF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8A6DF-1486-430C-83F9-C0937B691F6B}"/>
              </a:ext>
            </a:extLst>
          </p:cNvPr>
          <p:cNvSpPr/>
          <p:nvPr/>
        </p:nvSpPr>
        <p:spPr>
          <a:xfrm>
            <a:off x="10893669" y="6484407"/>
            <a:ext cx="817685" cy="36927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8953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4A7584CB-0BBA-6822-9010-3EF3029EF207}"/>
              </a:ext>
            </a:extLst>
          </p:cNvPr>
          <p:cNvSpPr txBox="1"/>
          <p:nvPr/>
        </p:nvSpPr>
        <p:spPr>
          <a:xfrm rot="12023759">
            <a:off x="8971111" y="2363565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   )   )   )   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38199A-822A-5DDE-76D8-FA3F7F870931}"/>
              </a:ext>
            </a:extLst>
          </p:cNvPr>
          <p:cNvSpPr txBox="1"/>
          <p:nvPr/>
        </p:nvSpPr>
        <p:spPr>
          <a:xfrm>
            <a:off x="389792" y="635004"/>
            <a:ext cx="3214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Testing Procedure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72B686-406A-D700-3BFB-3677C7B27797}"/>
              </a:ext>
            </a:extLst>
          </p:cNvPr>
          <p:cNvSpPr txBox="1"/>
          <p:nvPr/>
        </p:nvSpPr>
        <p:spPr>
          <a:xfrm>
            <a:off x="517085" y="3447197"/>
            <a:ext cx="701847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SG" b="1" u="sng" dirty="0">
                <a:latin typeface="Barlow"/>
              </a:rPr>
              <a:t>Link to join the queue for Mapping Drone Cage (For University Teams)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Link to get queue number </a:t>
            </a:r>
            <a:r>
              <a:rPr lang="en-SG" dirty="0">
                <a:highlight>
                  <a:srgbClr val="FFC000"/>
                </a:highlight>
                <a:latin typeface="Barlow"/>
              </a:rPr>
              <a:t>(To be updated)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B4F918-B993-4D61-A748-9D75C6A7F7E7}"/>
              </a:ext>
            </a:extLst>
          </p:cNvPr>
          <p:cNvSpPr txBox="1"/>
          <p:nvPr/>
        </p:nvSpPr>
        <p:spPr>
          <a:xfrm>
            <a:off x="517085" y="4489996"/>
            <a:ext cx="701847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SG" b="1" u="sng" dirty="0">
                <a:latin typeface="Barlow"/>
              </a:rPr>
              <a:t>Link to join the queue for Hula Drone Cage (For all Teams)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Link to get queue number </a:t>
            </a:r>
            <a:r>
              <a:rPr lang="en-SG" dirty="0">
                <a:highlight>
                  <a:srgbClr val="FFC000"/>
                </a:highlight>
                <a:latin typeface="Barlow"/>
              </a:rPr>
              <a:t>(To be updated)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366650-BA6E-4CBE-B0E6-025BD3971CF3}"/>
              </a:ext>
            </a:extLst>
          </p:cNvPr>
          <p:cNvSpPr txBox="1"/>
          <p:nvPr/>
        </p:nvSpPr>
        <p:spPr>
          <a:xfrm>
            <a:off x="517085" y="1649856"/>
            <a:ext cx="701847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SG" b="1" u="sng" dirty="0">
                <a:latin typeface="Barlow"/>
              </a:rPr>
              <a:t>General Procedure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Get a Queue Number (</a:t>
            </a:r>
            <a:r>
              <a:rPr lang="en-SG" u="sng" dirty="0">
                <a:latin typeface="Barlow"/>
              </a:rPr>
              <a:t>links</a:t>
            </a:r>
            <a:r>
              <a:rPr lang="en-SG" dirty="0">
                <a:latin typeface="Barlow"/>
              </a:rPr>
              <a:t> below).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Head to the waiting area when you are 3</a:t>
            </a:r>
            <a:r>
              <a:rPr lang="en-SG" baseline="30000" dirty="0">
                <a:latin typeface="Barlow"/>
              </a:rPr>
              <a:t>rd</a:t>
            </a:r>
            <a:r>
              <a:rPr lang="en-SG" dirty="0">
                <a:latin typeface="Barlow"/>
              </a:rPr>
              <a:t> in line.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SG" dirty="0">
              <a:latin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2541089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638199A-822A-5DDE-76D8-FA3F7F870931}"/>
              </a:ext>
            </a:extLst>
          </p:cNvPr>
          <p:cNvSpPr txBox="1"/>
          <p:nvPr/>
        </p:nvSpPr>
        <p:spPr>
          <a:xfrm>
            <a:off x="389792" y="635004"/>
            <a:ext cx="2390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Testing Rules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72B686-406A-D700-3BFB-3677C7B27797}"/>
              </a:ext>
            </a:extLst>
          </p:cNvPr>
          <p:cNvSpPr txBox="1"/>
          <p:nvPr/>
        </p:nvSpPr>
        <p:spPr>
          <a:xfrm>
            <a:off x="431480" y="1573587"/>
            <a:ext cx="701847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SG" b="1" u="sng" dirty="0">
                <a:latin typeface="Barlow"/>
              </a:rPr>
              <a:t>Mapping Drone Cage (University only)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Each Team will be entitled to 5 mins to testing in the Drone Cage.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B4F918-B993-4D61-A748-9D75C6A7F7E7}"/>
              </a:ext>
            </a:extLst>
          </p:cNvPr>
          <p:cNvSpPr txBox="1"/>
          <p:nvPr/>
        </p:nvSpPr>
        <p:spPr>
          <a:xfrm>
            <a:off x="431479" y="2723212"/>
            <a:ext cx="836601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SG" b="1" u="sng" dirty="0">
                <a:latin typeface="Barlow"/>
              </a:rPr>
              <a:t>Hula Drone Cage (University &amp; Pre-University)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At most 2 teams can test in 1 cage at any point of time.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There will be no limit to the total amount of time for testing.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However, each testing session will be limited to 5 mins.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There will be a cooldown of 20 mins after each testing (No re-queue for 20mins).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2D77DE-6F37-4B4A-9D0E-FF79585195E0}"/>
              </a:ext>
            </a:extLst>
          </p:cNvPr>
          <p:cNvSpPr txBox="1"/>
          <p:nvPr/>
        </p:nvSpPr>
        <p:spPr>
          <a:xfrm>
            <a:off x="424625" y="5165499"/>
            <a:ext cx="1036529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SG" b="1" u="sng" dirty="0">
                <a:latin typeface="Barlow"/>
              </a:rPr>
              <a:t>Other rules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There will be drones provided for testing at your tables. Strictly </a:t>
            </a:r>
            <a:r>
              <a:rPr lang="en-SG" b="1" u="sng" dirty="0">
                <a:latin typeface="Barlow"/>
              </a:rPr>
              <a:t>no flying </a:t>
            </a:r>
            <a:r>
              <a:rPr lang="en-SG" dirty="0">
                <a:latin typeface="Barlow"/>
              </a:rPr>
              <a:t>is allowed outside of the cage.</a:t>
            </a:r>
          </a:p>
        </p:txBody>
      </p:sp>
    </p:spTree>
    <p:extLst>
      <p:ext uri="{BB962C8B-B14F-4D97-AF65-F5344CB8AC3E}">
        <p14:creationId xmlns:p14="http://schemas.microsoft.com/office/powerpoint/2010/main" val="3693198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638199A-822A-5DDE-76D8-FA3F7F870931}"/>
              </a:ext>
            </a:extLst>
          </p:cNvPr>
          <p:cNvSpPr txBox="1"/>
          <p:nvPr/>
        </p:nvSpPr>
        <p:spPr>
          <a:xfrm>
            <a:off x="389792" y="635004"/>
            <a:ext cx="37010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Detailed Regulations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72B686-406A-D700-3BFB-3677C7B27797}"/>
              </a:ext>
            </a:extLst>
          </p:cNvPr>
          <p:cNvSpPr txBox="1"/>
          <p:nvPr/>
        </p:nvSpPr>
        <p:spPr>
          <a:xfrm>
            <a:off x="389792" y="1552300"/>
            <a:ext cx="10801202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Testing operates on a First-Come-First-Serve (FCFS) queue system. No prior online booking of testing slots is required.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Teams may only join the queue when they are ready to test. When one team is testing, the next 2 team in the queue will be notified to report to the waiting area to prepare the drone.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Teams next in queue who do not report to the waiting area will be removed from the queue.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The testing timer starts when the team takes possession of the testing area and is cleared by the marshal to commence testing (i.e. drone take off); and ends when the drone lands.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The organiser reserves the right to adjust queue operations and utilise unused testing capacity to maximise the overall participation and testing opportunities.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b="1" dirty="0">
                <a:latin typeface="Barlow"/>
              </a:rPr>
              <a:t>Throughout the challenge, teams will not be given re-assessment attempts should the drone crash due to any reasons.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b="1" dirty="0">
                <a:latin typeface="Barlow"/>
              </a:rPr>
              <a:t>Teams who violate the testing regulations or ignore instructions provided by test marshals will </a:t>
            </a:r>
            <a:r>
              <a:rPr lang="en-SG" sz="1400" b="1" u="sng" dirty="0">
                <a:latin typeface="Barlow"/>
              </a:rPr>
              <a:t>face 1h no-testing penalty</a:t>
            </a:r>
            <a:r>
              <a:rPr lang="en-SG" sz="1400" b="1" dirty="0">
                <a:latin typeface="Barlow"/>
              </a:rPr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SG" sz="1400" dirty="0">
              <a:latin typeface="Barlow"/>
            </a:endParaRPr>
          </a:p>
          <a:p>
            <a:pPr>
              <a:spcBef>
                <a:spcPts val="600"/>
              </a:spcBef>
            </a:pPr>
            <a:r>
              <a:rPr lang="en-SG" sz="1400" b="1" u="sng" dirty="0">
                <a:latin typeface="Barlow"/>
              </a:rPr>
              <a:t>For mapping drone only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For the mapping drone, each Team is allocated a fixed amount of time for testing per day to ensure fair access to the testing facilities.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Teams may end a testing session before fully utilising their allocated testing allowance.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Any unused timing remains available to the team and may be utilised in subsequent testing sessions.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Teams with remaining testing allowance may re-join the back of the queue.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Unused testing allowance is non-transferable between teams.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No additional testing time will be granted if a team is unable to complete its planned activities within the testing allowance.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SG" sz="1400" dirty="0">
              <a:latin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2292174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074BFE73-54F0-0D09-CFC7-2F16DDBE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53C1C-53A0-670A-647D-2FFA984069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" y="-1"/>
            <a:ext cx="12184333" cy="6862317"/>
          </a:xfrm>
          <a:prstGeom prst="rect">
            <a:avLst/>
          </a:prstGeom>
        </p:spPr>
      </p:pic>
      <p:sp>
        <p:nvSpPr>
          <p:cNvPr id="2" name="Google Shape;162;p37">
            <a:extLst>
              <a:ext uri="{FF2B5EF4-FFF2-40B4-BE49-F238E27FC236}">
                <a16:creationId xmlns:a16="http://schemas.microsoft.com/office/drawing/2014/main" id="{150562C4-6131-FEF1-3782-FDC0380708CB}"/>
              </a:ext>
            </a:extLst>
          </p:cNvPr>
          <p:cNvSpPr txBox="1"/>
          <p:nvPr/>
        </p:nvSpPr>
        <p:spPr>
          <a:xfrm>
            <a:off x="908742" y="1690577"/>
            <a:ext cx="6724800" cy="2923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70000"/>
              </a:lnSpc>
              <a:buClr>
                <a:srgbClr val="000000"/>
              </a:buClr>
            </a:pPr>
            <a:r>
              <a:rPr lang="en-SG" sz="6400" kern="0" dirty="0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LOGISTICS PROVIDED</a:t>
            </a:r>
            <a:endParaRPr sz="6400" kern="0" dirty="0">
              <a:solidFill>
                <a:srgbClr val="FFFFFF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8A6DF-1486-430C-83F9-C0937B691F6B}"/>
              </a:ext>
            </a:extLst>
          </p:cNvPr>
          <p:cNvSpPr/>
          <p:nvPr/>
        </p:nvSpPr>
        <p:spPr>
          <a:xfrm>
            <a:off x="10893669" y="6484407"/>
            <a:ext cx="817685" cy="36927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0752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059A4E3-E25E-9083-133A-13413030A2FF}"/>
              </a:ext>
            </a:extLst>
          </p:cNvPr>
          <p:cNvSpPr txBox="1"/>
          <p:nvPr/>
        </p:nvSpPr>
        <p:spPr>
          <a:xfrm>
            <a:off x="389792" y="635004"/>
            <a:ext cx="55733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Logistics Provided to each Team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2A09B5-35CD-4EEA-B88A-1AA483CE9C57}"/>
              </a:ext>
            </a:extLst>
          </p:cNvPr>
          <p:cNvSpPr txBox="1"/>
          <p:nvPr/>
        </p:nvSpPr>
        <p:spPr>
          <a:xfrm>
            <a:off x="1178941" y="1649856"/>
            <a:ext cx="557332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SG" b="1" u="sng" dirty="0">
                <a:latin typeface="Barlow"/>
              </a:rPr>
              <a:t>University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mapping drone (to be shared between 2 teams)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HULA drone (to be shared between 2 teams)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Sample landing pad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Sample </a:t>
            </a:r>
            <a:r>
              <a:rPr lang="en-SG" dirty="0" err="1">
                <a:latin typeface="Barlow"/>
              </a:rPr>
              <a:t>Aruco</a:t>
            </a:r>
            <a:r>
              <a:rPr lang="en-SG" dirty="0">
                <a:latin typeface="Barlow"/>
              </a:rPr>
              <a:t> pad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Laptop 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Charger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Mouse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SG" dirty="0">
              <a:latin typeface="Barlo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E5C4F-299D-43FB-9804-A80B0EB6BC67}"/>
              </a:ext>
            </a:extLst>
          </p:cNvPr>
          <p:cNvSpPr txBox="1"/>
          <p:nvPr/>
        </p:nvSpPr>
        <p:spPr>
          <a:xfrm>
            <a:off x="6408438" y="1649856"/>
            <a:ext cx="3980889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SG" b="1" u="sng" dirty="0">
                <a:latin typeface="Barlow"/>
              </a:rPr>
              <a:t>Pre-University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SG" dirty="0">
              <a:latin typeface="Barlow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HULA drone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Sample landing pad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Sample </a:t>
            </a:r>
            <a:r>
              <a:rPr lang="en-SG" dirty="0" err="1">
                <a:latin typeface="Barlow"/>
              </a:rPr>
              <a:t>Aruco</a:t>
            </a:r>
            <a:r>
              <a:rPr lang="en-SG" dirty="0">
                <a:latin typeface="Barlow"/>
              </a:rPr>
              <a:t> pad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Laptop 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Charger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Mouse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SG" dirty="0">
              <a:latin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2858695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059A4E3-E25E-9083-133A-13413030A2FF}"/>
              </a:ext>
            </a:extLst>
          </p:cNvPr>
          <p:cNvSpPr txBox="1"/>
          <p:nvPr/>
        </p:nvSpPr>
        <p:spPr>
          <a:xfrm>
            <a:off x="389792" y="635004"/>
            <a:ext cx="55733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Logistics Provided to each Team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2A09B5-35CD-4EEA-B88A-1AA483CE9C57}"/>
              </a:ext>
            </a:extLst>
          </p:cNvPr>
          <p:cNvSpPr txBox="1"/>
          <p:nvPr/>
        </p:nvSpPr>
        <p:spPr>
          <a:xfrm>
            <a:off x="1178941" y="1649856"/>
            <a:ext cx="557332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SG" b="1" u="sng" dirty="0">
                <a:latin typeface="Barlow"/>
              </a:rPr>
              <a:t>University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mapping drone (to be shared between 2 teams)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HULA drone (to be shared between 2 teams)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Sample landing pad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Sample </a:t>
            </a:r>
            <a:r>
              <a:rPr lang="en-SG" dirty="0" err="1">
                <a:latin typeface="Barlow"/>
              </a:rPr>
              <a:t>Aruco</a:t>
            </a:r>
            <a:r>
              <a:rPr lang="en-SG" dirty="0">
                <a:latin typeface="Barlow"/>
              </a:rPr>
              <a:t> pad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Laptop 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Charger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Mouse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SG" dirty="0">
              <a:latin typeface="Barlo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E5C4F-299D-43FB-9804-A80B0EB6BC67}"/>
              </a:ext>
            </a:extLst>
          </p:cNvPr>
          <p:cNvSpPr txBox="1"/>
          <p:nvPr/>
        </p:nvSpPr>
        <p:spPr>
          <a:xfrm>
            <a:off x="6408438" y="1649856"/>
            <a:ext cx="3980889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SG" b="1" u="sng" dirty="0">
                <a:latin typeface="Barlow"/>
              </a:rPr>
              <a:t>Pre-University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SG" dirty="0">
              <a:latin typeface="Barlow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HULA drone 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Sample landing pad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Sample </a:t>
            </a:r>
            <a:r>
              <a:rPr lang="en-SG" dirty="0" err="1">
                <a:latin typeface="Barlow"/>
              </a:rPr>
              <a:t>Aruco</a:t>
            </a:r>
            <a:r>
              <a:rPr lang="en-SG" dirty="0">
                <a:latin typeface="Barlow"/>
              </a:rPr>
              <a:t> pad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1 Laptop 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Charger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Mouse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SG" dirty="0">
              <a:latin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1160786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638199A-822A-5DDE-76D8-FA3F7F870931}"/>
              </a:ext>
            </a:extLst>
          </p:cNvPr>
          <p:cNvSpPr txBox="1"/>
          <p:nvPr/>
        </p:nvSpPr>
        <p:spPr>
          <a:xfrm>
            <a:off x="389792" y="635004"/>
            <a:ext cx="55733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Logistics Provided to each Team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ED1AAA-6D74-4F3D-A0E9-CF3518D47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29351"/>
              </p:ext>
            </p:extLst>
          </p:nvPr>
        </p:nvGraphicFramePr>
        <p:xfrm>
          <a:off x="1817579" y="1272030"/>
          <a:ext cx="8179860" cy="55210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3950">
                  <a:extLst>
                    <a:ext uri="{9D8B030D-6E8A-4147-A177-3AD203B41FA5}">
                      <a16:colId xmlns:a16="http://schemas.microsoft.com/office/drawing/2014/main" val="3914771357"/>
                    </a:ext>
                  </a:extLst>
                </a:gridCol>
                <a:gridCol w="3243475">
                  <a:extLst>
                    <a:ext uri="{9D8B030D-6E8A-4147-A177-3AD203B41FA5}">
                      <a16:colId xmlns:a16="http://schemas.microsoft.com/office/drawing/2014/main" val="1733088819"/>
                    </a:ext>
                  </a:extLst>
                </a:gridCol>
                <a:gridCol w="1843152">
                  <a:extLst>
                    <a:ext uri="{9D8B030D-6E8A-4147-A177-3AD203B41FA5}">
                      <a16:colId xmlns:a16="http://schemas.microsoft.com/office/drawing/2014/main" val="4043567997"/>
                    </a:ext>
                  </a:extLst>
                </a:gridCol>
                <a:gridCol w="2189283">
                  <a:extLst>
                    <a:ext uri="{9D8B030D-6E8A-4147-A177-3AD203B41FA5}">
                      <a16:colId xmlns:a16="http://schemas.microsoft.com/office/drawing/2014/main" val="20891628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Barlow"/>
                        </a:rPr>
                        <a:t>Sequence</a:t>
                      </a:r>
                    </a:p>
                  </a:txBody>
                  <a:tcPr marL="6675" marR="6675" marT="667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Barlow"/>
                        </a:rPr>
                        <a:t>Testing Team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Barlow"/>
                        </a:rPr>
                        <a:t>HULA Drone No.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600"/>
                        </a:spcBef>
                      </a:pPr>
                      <a:r>
                        <a:rPr lang="en-SG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Barlow"/>
                        </a:rPr>
                        <a:t>Mapping Drone No.</a:t>
                      </a:r>
                    </a:p>
                  </a:txBody>
                  <a:tcPr marL="6675" marR="6675" marT="667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677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4FINGERS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515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AAA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1,2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647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ARTIFICIALLYUNINTELLIGENT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3,4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3,4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323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BOYD BUDDIES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3.4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3.4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792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CALIBRUH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5,6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5,6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368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FLYINGEXPLORERS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5,6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5,6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93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GUIS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7,8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7,8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737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HALLUCINATORS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7,8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7,8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112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KAUSHIK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9,10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9,10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843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MASTERBYTERS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9,10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9,10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120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ROBO04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11,12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11,12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420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11,12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11,12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784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SARA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13,14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13,14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389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SCRT3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13,14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13,14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48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15,16,17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15,16,17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929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STINKIES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15,16,17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15,16,17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319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YANG WEI INDUSTRIES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15,16,17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15,16,17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270716"/>
                  </a:ext>
                </a:extLst>
              </a:tr>
              <a:tr h="128818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18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NA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955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19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19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SG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Enabled:Arial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SG" sz="1200" b="0" i="0" u="none" strike="noStrike" dirty="0">
                        <a:solidFill>
                          <a:schemeClr val="tx1"/>
                        </a:solidFill>
                        <a:effectLst/>
                        <a:latin typeface="Enabled: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842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20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ROBO11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SG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Enabled:Arial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SG" sz="1200" b="0" i="0" u="none" strike="noStrike" dirty="0">
                        <a:solidFill>
                          <a:schemeClr val="tx1"/>
                        </a:solidFill>
                        <a:effectLst/>
                        <a:latin typeface="Enabled: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982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21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ROYAL RECRUITS 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SG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Enabled:Arial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SG" sz="1200" b="0" i="0" u="none" strike="noStrike" dirty="0">
                        <a:solidFill>
                          <a:schemeClr val="tx1"/>
                        </a:solidFill>
                        <a:effectLst/>
                        <a:latin typeface="Enabled: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063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SAMABEENHACKING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SG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Enabled:Arial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SG" sz="1200" b="0" i="0" u="none" strike="noStrike" dirty="0">
                        <a:solidFill>
                          <a:schemeClr val="tx1"/>
                        </a:solidFill>
                        <a:effectLst/>
                        <a:latin typeface="Enabled: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830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SO WHAT THE TEAM NAME GON BE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SG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Enabled:Arial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SG" sz="1200" b="0" i="0" u="none" strike="noStrike" dirty="0">
                        <a:solidFill>
                          <a:schemeClr val="tx1"/>
                        </a:solidFill>
                        <a:effectLst/>
                        <a:latin typeface="Enabled: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630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24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THE WIENERS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SG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Enabled:Arial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SG" sz="1200" b="0" i="0" u="none" strike="noStrike" dirty="0">
                        <a:solidFill>
                          <a:schemeClr val="tx1"/>
                        </a:solidFill>
                        <a:effectLst/>
                        <a:latin typeface="Enabled: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560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25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UNTITLED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200" b="0" i="0" u="none" strike="noStrike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SG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Enabled:Arial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SG" sz="1200" b="0" i="0" u="none" strike="noStrike" dirty="0">
                        <a:solidFill>
                          <a:schemeClr val="tx1"/>
                        </a:solidFill>
                        <a:effectLst/>
                        <a:latin typeface="Enabled: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864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26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WANNABENGINEERS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nabled:Arial"/>
                        </a:rPr>
                        <a:t>26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SG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Enabled:Arial"/>
                          <a:ea typeface="+mn-ea"/>
                          <a:cs typeface="+mn-cs"/>
                          <a:sym typeface="Arial"/>
                        </a:rPr>
                        <a:t>NA</a:t>
                      </a:r>
                      <a:endParaRPr lang="en-SG" sz="1200" b="0" i="0" u="none" strike="noStrike" dirty="0">
                        <a:solidFill>
                          <a:schemeClr val="tx1"/>
                        </a:solidFill>
                        <a:effectLst/>
                        <a:latin typeface="Enabled: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075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799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074BFE73-54F0-0D09-CFC7-2F16DDBE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53C1C-53A0-670A-647D-2FFA984069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" y="-1"/>
            <a:ext cx="12184333" cy="6862317"/>
          </a:xfrm>
          <a:prstGeom prst="rect">
            <a:avLst/>
          </a:prstGeom>
        </p:spPr>
      </p:pic>
      <p:sp>
        <p:nvSpPr>
          <p:cNvPr id="2" name="Google Shape;162;p37">
            <a:extLst>
              <a:ext uri="{FF2B5EF4-FFF2-40B4-BE49-F238E27FC236}">
                <a16:creationId xmlns:a16="http://schemas.microsoft.com/office/drawing/2014/main" id="{150562C4-6131-FEF1-3782-FDC0380708CB}"/>
              </a:ext>
            </a:extLst>
          </p:cNvPr>
          <p:cNvSpPr txBox="1"/>
          <p:nvPr/>
        </p:nvSpPr>
        <p:spPr>
          <a:xfrm>
            <a:off x="908742" y="1690577"/>
            <a:ext cx="6724800" cy="2923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70000"/>
              </a:lnSpc>
              <a:buClr>
                <a:srgbClr val="000000"/>
              </a:buClr>
            </a:pPr>
            <a:r>
              <a:rPr lang="en-SG" sz="6400" kern="0" dirty="0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PRIZES</a:t>
            </a:r>
            <a:endParaRPr sz="6400" kern="0" dirty="0">
              <a:solidFill>
                <a:srgbClr val="FFFFFF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8A6DF-1486-430C-83F9-C0937B691F6B}"/>
              </a:ext>
            </a:extLst>
          </p:cNvPr>
          <p:cNvSpPr/>
          <p:nvPr/>
        </p:nvSpPr>
        <p:spPr>
          <a:xfrm>
            <a:off x="10893669" y="6484407"/>
            <a:ext cx="817685" cy="36927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9597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47D9256-55AC-0B76-392C-4BBC39CEE11C}"/>
              </a:ext>
            </a:extLst>
          </p:cNvPr>
          <p:cNvSpPr txBox="1"/>
          <p:nvPr/>
        </p:nvSpPr>
        <p:spPr>
          <a:xfrm>
            <a:off x="1879314" y="1957219"/>
            <a:ext cx="3537418" cy="2943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SG" sz="2400" b="1" u="sng" dirty="0">
                <a:latin typeface="Barlow"/>
              </a:rPr>
              <a:t>Pre-University Category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400" dirty="0">
                <a:latin typeface="Barlow"/>
              </a:rPr>
              <a:t>1</a:t>
            </a:r>
            <a:r>
              <a:rPr lang="en-SG" sz="2400" baseline="30000" dirty="0">
                <a:latin typeface="Barlow"/>
              </a:rPr>
              <a:t>st</a:t>
            </a:r>
            <a:r>
              <a:rPr lang="en-SG" sz="2400" dirty="0">
                <a:latin typeface="Barlow"/>
              </a:rPr>
              <a:t> Place: $1,800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400" dirty="0">
                <a:latin typeface="Barlow"/>
              </a:rPr>
              <a:t>2</a:t>
            </a:r>
            <a:r>
              <a:rPr lang="en-SG" sz="2400" baseline="30000" dirty="0">
                <a:latin typeface="Barlow"/>
              </a:rPr>
              <a:t>nd</a:t>
            </a:r>
            <a:r>
              <a:rPr lang="en-SG" sz="2400" dirty="0">
                <a:latin typeface="Barlow"/>
              </a:rPr>
              <a:t> Place: $1,300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400" dirty="0">
                <a:latin typeface="Barlow"/>
              </a:rPr>
              <a:t>3</a:t>
            </a:r>
            <a:r>
              <a:rPr lang="en-SG" sz="2400" baseline="30000" dirty="0">
                <a:latin typeface="Barlow"/>
              </a:rPr>
              <a:t>rd</a:t>
            </a:r>
            <a:r>
              <a:rPr lang="en-SG" sz="2400" dirty="0">
                <a:latin typeface="Barlow"/>
              </a:rPr>
              <a:t> Place: $900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59A4E3-E25E-9083-133A-13413030A2FF}"/>
              </a:ext>
            </a:extLst>
          </p:cNvPr>
          <p:cNvSpPr txBox="1"/>
          <p:nvPr/>
        </p:nvSpPr>
        <p:spPr>
          <a:xfrm>
            <a:off x="389792" y="635004"/>
            <a:ext cx="4598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Competition Prize Awards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3734F-FAEB-493B-AADF-68D86C935915}"/>
              </a:ext>
            </a:extLst>
          </p:cNvPr>
          <p:cNvSpPr txBox="1"/>
          <p:nvPr/>
        </p:nvSpPr>
        <p:spPr>
          <a:xfrm>
            <a:off x="5956663" y="1957218"/>
            <a:ext cx="3712596" cy="2943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SG" sz="2400" b="1" u="sng" dirty="0">
                <a:latin typeface="Barlow"/>
              </a:rPr>
              <a:t>University Category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400" dirty="0">
                <a:latin typeface="Barlow"/>
              </a:rPr>
              <a:t>1</a:t>
            </a:r>
            <a:r>
              <a:rPr lang="en-SG" sz="2400" baseline="30000" dirty="0">
                <a:latin typeface="Barlow"/>
              </a:rPr>
              <a:t>st</a:t>
            </a:r>
            <a:r>
              <a:rPr lang="en-SG" sz="2400" dirty="0">
                <a:latin typeface="Barlow"/>
              </a:rPr>
              <a:t> Place: $1,800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400" dirty="0">
                <a:latin typeface="Barlow"/>
              </a:rPr>
              <a:t>2</a:t>
            </a:r>
            <a:r>
              <a:rPr lang="en-SG" sz="2400" baseline="30000" dirty="0">
                <a:latin typeface="Barlow"/>
              </a:rPr>
              <a:t>nd</a:t>
            </a:r>
            <a:r>
              <a:rPr lang="en-SG" sz="2400" dirty="0">
                <a:latin typeface="Barlow"/>
              </a:rPr>
              <a:t> Place: $1,300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400" dirty="0">
                <a:latin typeface="Barlow"/>
              </a:rPr>
              <a:t>3</a:t>
            </a:r>
            <a:r>
              <a:rPr lang="en-SG" sz="2400" baseline="30000" dirty="0">
                <a:latin typeface="Barlow"/>
              </a:rPr>
              <a:t>rd</a:t>
            </a:r>
            <a:r>
              <a:rPr lang="en-SG" sz="2400" dirty="0">
                <a:latin typeface="Barlow"/>
              </a:rPr>
              <a:t> Place: $900</a:t>
            </a:r>
          </a:p>
        </p:txBody>
      </p:sp>
    </p:spTree>
    <p:extLst>
      <p:ext uri="{BB962C8B-B14F-4D97-AF65-F5344CB8AC3E}">
        <p14:creationId xmlns:p14="http://schemas.microsoft.com/office/powerpoint/2010/main" val="2052058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56EA80-B9ED-6041-D876-A5487B2AD3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20" name="Google Shape;920;p84"/>
          <p:cNvSpPr txBox="1"/>
          <p:nvPr/>
        </p:nvSpPr>
        <p:spPr>
          <a:xfrm>
            <a:off x="2536825" y="2967039"/>
            <a:ext cx="71184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 defTabSz="1219170">
              <a:buClr>
                <a:srgbClr val="000000"/>
              </a:buClr>
              <a:buSzPts val="4100"/>
            </a:pPr>
            <a:r>
              <a:rPr lang="en-GB" sz="4800" b="1" kern="0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THANK YOU</a:t>
            </a:r>
            <a:endParaRPr sz="800" b="1" kern="0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d309cdcc-5fda-4ba1-8dfa-0ce0aa61e41d</TitusGUID>
  <TitusMetadata xmlns="">eyJucyI6Imh0dHA6XC9cL3d3dy50aXR1cy5jb21cL25zXC9EU1RBIiwicHJvcHMiOlt7Im4iOiJNYWluQ2xhc3NpZmljYXRpb24iLCJ2YWxzIjpbeyJ2YWx1ZSI6Ik9mZmljaWFsIChDbG9zZWQpIn1dfSx7Im4iOiJTdWJDbGFzc2lmaWNhdGlvbiIsInZhbHMiOlt7InZhbHVlIjoiTm9uLVNlbnNpdGl2ZSJ9XX1dfQ==</TitusMetadata>
</titus>
</file>

<file path=customXml/itemProps1.xml><?xml version="1.0" encoding="utf-8"?>
<ds:datastoreItem xmlns:ds="http://schemas.openxmlformats.org/officeDocument/2006/customXml" ds:itemID="{31FD1DCB-D92B-4854-BCD5-07A7029D7514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9472</TotalTime>
  <Words>1902</Words>
  <Application>Microsoft Office PowerPoint</Application>
  <PresentationFormat>Widescreen</PresentationFormat>
  <Paragraphs>496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Aptos</vt:lpstr>
      <vt:lpstr>Arial</vt:lpstr>
      <vt:lpstr>Barlow</vt:lpstr>
      <vt:lpstr>Barlow Black</vt:lpstr>
      <vt:lpstr>Calibri</vt:lpstr>
      <vt:lpstr>Calibri Light</vt:lpstr>
      <vt:lpstr>Enabled:Arial</vt:lpstr>
      <vt:lpstr>Source Sans Pro</vt:lpstr>
      <vt:lpstr>Simple Dark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Bryan Chai Siong Yi</dc:creator>
  <cp:lastModifiedBy>Bryan Chai Siong Yi (DSTA)</cp:lastModifiedBy>
  <cp:revision>295</cp:revision>
  <dcterms:created xsi:type="dcterms:W3CDTF">2025-11-19T03:21:00Z</dcterms:created>
  <dcterms:modified xsi:type="dcterms:W3CDTF">2026-06-09T13:01:05Z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d309cdcc-5fda-4ba1-8dfa-0ce0aa61e41d</vt:lpwstr>
  </property>
  <property fmtid="{D5CDD505-2E9C-101B-9397-08002B2CF9AE}" pid="3" name="TitusMainClassification">
    <vt:lpwstr>Official (Closed)</vt:lpwstr>
  </property>
  <property fmtid="{D5CDD505-2E9C-101B-9397-08002B2CF9AE}" pid="4" name="TitusSubClassification">
    <vt:lpwstr>Non-Sensitive</vt:lpwstr>
  </property>
  <property fmtid="{D5CDD505-2E9C-101B-9397-08002B2CF9AE}" pid="5" name="ClassificationTime">
    <vt:lpwstr>2026-04-07 21:10:25Z</vt:lpwstr>
  </property>
  <property fmtid="{D5CDD505-2E9C-101B-9397-08002B2CF9AE}" pid="6" name="LastClassifiedBy">
    <vt:lpwstr>CPEICHEN</vt:lpwstr>
  </property>
</Properties>
</file>